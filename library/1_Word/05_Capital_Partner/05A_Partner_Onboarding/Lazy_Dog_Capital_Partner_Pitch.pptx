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Two operators, our own money in every deal, Dallas-Fort Worth fix and flip lending.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context and the four numbers a partner cares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The key point is step 4 — the collateral assignment, not a second lien.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formula: 80% of ARV. The old two-part formula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is drawn to scale. Partner is the largest block and sits first in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 is set purely by share of the loan. No negotiation, no moving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Cushion grows every week because the holdback only funds after verified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every partner is really asking. Answer it before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own a repair company. A default changes who finishes the project, not whether it finishes.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own capital behind theirs is the whole pitch. Say it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handing over the Capital Partner Agreement and the sample deal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C3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697480" y="1234440"/>
            <a:ext cx="3749040" cy="1554480"/>
          </a:xfrm>
          <a:prstGeom prst="rect">
            <a:avLst/>
          </a:prstGeom>
        </p:spPr>
      </p:pic>
      <p:sp>
        <p:nvSpPr>
          <p:cNvPr id="3" name="Shape 0"/>
          <p:cNvSpPr/>
          <p:nvPr/>
        </p:nvSpPr>
        <p:spPr>
          <a:xfrm>
            <a:off x="4187952" y="2944368"/>
            <a:ext cx="768096" cy="0"/>
          </a:xfrm>
          <a:prstGeom prst="line">
            <a:avLst/>
          </a:prstGeom>
          <a:noFill/>
          <a:ln w="17780">
            <a:solidFill>
              <a:srgbClr val="C89430"/>
            </a:solidFill>
            <a:prstDash val="solid"/>
          </a:ln>
        </p:spPr>
      </p:sp>
      <p:sp>
        <p:nvSpPr>
          <p:cNvPr id="4" name="Text 1"/>
          <p:cNvSpPr/>
          <p:nvPr/>
        </p:nvSpPr>
        <p:spPr>
          <a:xfrm>
            <a:off x="0" y="3054096"/>
            <a:ext cx="9144000" cy="292608"/>
          </a:xfrm>
          <a:prstGeom prst="rect">
            <a:avLst/>
          </a:prstGeom>
          <a:noFill/>
          <a:ln/>
        </p:spPr>
        <p:txBody>
          <a:bodyPr wrap="square" rtlCol="0" anchor="ctr"/>
          <a:lstStyle/>
          <a:p>
            <a:pPr algn="ctr" indent="0" marL="0">
              <a:buNone/>
            </a:pPr>
            <a:r>
              <a:rPr lang="en-US" sz="1450" dirty="0">
                <a:solidFill>
                  <a:srgbClr val="F0EADE"/>
                </a:solidFill>
                <a:latin typeface="Georgia" pitchFamily="34" charset="0"/>
                <a:ea typeface="Georgia" pitchFamily="34" charset="-122"/>
                <a:cs typeface="Georgia" pitchFamily="34" charset="-120"/>
              </a:rPr>
              <a:t>Secured Private Lending for Residential Real Estate</a:t>
            </a:r>
            <a:endParaRPr lang="en-US" sz="1450" dirty="0"/>
          </a:p>
        </p:txBody>
      </p:sp>
      <p:sp>
        <p:nvSpPr>
          <p:cNvPr id="5" name="Text 2"/>
          <p:cNvSpPr/>
          <p:nvPr/>
        </p:nvSpPr>
        <p:spPr>
          <a:xfrm>
            <a:off x="0" y="3364992"/>
            <a:ext cx="9144000" cy="237744"/>
          </a:xfrm>
          <a:prstGeom prst="rect">
            <a:avLst/>
          </a:prstGeom>
          <a:noFill/>
          <a:ln/>
        </p:spPr>
        <p:txBody>
          <a:bodyPr wrap="square" rtlCol="0" anchor="ctr"/>
          <a:lstStyle/>
          <a:p>
            <a:pPr algn="ctr" indent="0" marL="0">
              <a:buNone/>
            </a:pPr>
            <a:r>
              <a:rPr lang="en-US" sz="1000" dirty="0">
                <a:solidFill>
                  <a:srgbClr val="9FB0AA"/>
                </a:solidFill>
                <a:latin typeface="Arial" pitchFamily="34" charset="0"/>
                <a:ea typeface="Arial" pitchFamily="34" charset="-122"/>
                <a:cs typeface="Arial" pitchFamily="34" charset="-120"/>
              </a:rPr>
              <a:t>Richardson, Texas</a:t>
            </a:r>
            <a:endParaRPr lang="en-US" sz="1000" dirty="0"/>
          </a:p>
        </p:txBody>
      </p:sp>
      <p:sp>
        <p:nvSpPr>
          <p:cNvPr id="6" name="Text 3"/>
          <p:cNvSpPr/>
          <p:nvPr/>
        </p:nvSpPr>
        <p:spPr>
          <a:xfrm>
            <a:off x="0" y="4297680"/>
            <a:ext cx="9144000" cy="274320"/>
          </a:xfrm>
          <a:prstGeom prst="rect">
            <a:avLst/>
          </a:prstGeom>
          <a:noFill/>
          <a:ln/>
        </p:spPr>
        <p:txBody>
          <a:bodyPr wrap="square" rtlCol="0" anchor="ctr"/>
          <a:lstStyle/>
          <a:p>
            <a:pPr algn="ctr" indent="0" marL="0">
              <a:buNone/>
            </a:pPr>
            <a:r>
              <a:rPr lang="en-US" sz="1000" b="1" spc="200" kern="0" dirty="0">
                <a:solidFill>
                  <a:srgbClr val="F0EADE"/>
                </a:solidFill>
                <a:latin typeface="Arial" pitchFamily="34" charset="0"/>
                <a:ea typeface="Arial" pitchFamily="34" charset="-122"/>
                <a:cs typeface="Arial" pitchFamily="34" charset="-120"/>
              </a:rPr>
              <a:t>LEWIS McKNIGHT    ·    STEPHEN MANER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8010144" cy="219456"/>
          </a:xfrm>
          <a:prstGeom prst="rect">
            <a:avLst/>
          </a:prstGeom>
          <a:noFill/>
          <a:ln/>
        </p:spPr>
        <p:txBody>
          <a:bodyPr wrap="square" lIns="0" tIns="0" rIns="0" bIns="0" rtlCol="0" anchor="ctr"/>
          <a:lstStyle/>
          <a:p>
            <a:pPr indent="0" marL="0">
              <a:buNone/>
            </a:pPr>
            <a:r>
              <a:rPr lang="en-US" sz="900" b="1" spc="200" kern="0" dirty="0">
                <a:solidFill>
                  <a:srgbClr val="C89430"/>
                </a:solidFill>
                <a:latin typeface="Arial" pitchFamily="34" charset="0"/>
                <a:ea typeface="Arial" pitchFamily="34" charset="-122"/>
                <a:cs typeface="Arial" pitchFamily="34" charset="-120"/>
              </a:rPr>
              <a:t>WHY PRIVATE LENDING</a:t>
            </a:r>
            <a:endParaRPr lang="en-US" sz="900" dirty="0"/>
          </a:p>
        </p:txBody>
      </p:sp>
      <p:sp>
        <p:nvSpPr>
          <p:cNvPr id="3" name="Text 1"/>
          <p:cNvSpPr/>
          <p:nvPr/>
        </p:nvSpPr>
        <p:spPr>
          <a:xfrm>
            <a:off x="566928" y="603504"/>
            <a:ext cx="8010144" cy="566928"/>
          </a:xfrm>
          <a:prstGeom prst="rect">
            <a:avLst/>
          </a:prstGeom>
          <a:noFill/>
          <a:ln/>
        </p:spPr>
        <p:txBody>
          <a:bodyPr wrap="square" lIns="0" tIns="0" rIns="0" bIns="0" rtlCol="0" anchor="ctr"/>
          <a:lstStyle/>
          <a:p>
            <a:pPr indent="0" marL="0">
              <a:buNone/>
            </a:pPr>
            <a:r>
              <a:rPr lang="en-US" sz="3300" b="1" dirty="0">
                <a:solidFill>
                  <a:srgbClr val="1E3C36"/>
                </a:solidFill>
                <a:latin typeface="Georgia" pitchFamily="34" charset="0"/>
                <a:ea typeface="Georgia" pitchFamily="34" charset="-122"/>
                <a:cs typeface="Georgia" pitchFamily="34" charset="-120"/>
              </a:rPr>
              <a:t>The Opportunity</a:t>
            </a:r>
            <a:endParaRPr lang="en-US" sz="3300" dirty="0"/>
          </a:p>
        </p:txBody>
      </p:sp>
      <p:pic>
        <p:nvPicPr>
          <p:cNvPr id="4" name="Image 0" descr="preencoded.png">    </p:cNvPr>
          <p:cNvPicPr>
            <a:picLocks noChangeAspect="1"/>
          </p:cNvPicPr>
          <p:nvPr/>
        </p:nvPicPr>
        <p:blipFill>
          <a:blip r:embed="rId1"/>
          <a:stretch>
            <a:fillRect/>
          </a:stretch>
        </p:blipFill>
        <p:spPr>
          <a:xfrm>
            <a:off x="8266176" y="329184"/>
            <a:ext cx="274320" cy="310896"/>
          </a:xfrm>
          <a:prstGeom prst="rect">
            <a:avLst/>
          </a:prstGeom>
        </p:spPr>
      </p:pic>
      <p:sp>
        <p:nvSpPr>
          <p:cNvPr id="5" name="Text 2"/>
          <p:cNvSpPr/>
          <p:nvPr/>
        </p:nvSpPr>
        <p:spPr>
          <a:xfrm>
            <a:off x="566928" y="1417320"/>
            <a:ext cx="4160520" cy="2377440"/>
          </a:xfrm>
          <a:prstGeom prst="rect">
            <a:avLst/>
          </a:prstGeom>
          <a:noFill/>
          <a:ln/>
        </p:spPr>
        <p:txBody>
          <a:bodyPr wrap="square" lIns="0" tIns="0" rIns="0" bIns="0" rtlCol="0" anchor="t"/>
          <a:lstStyle/>
          <a:p>
            <a:pPr indent="0" marL="0">
              <a:lnSpc>
                <a:spcPts val="2000"/>
              </a:lnSpc>
              <a:buNone/>
            </a:pPr>
            <a:r>
              <a:rPr lang="en-US" sz="1250" dirty="0">
                <a:solidFill>
                  <a:srgbClr val="2E3B38"/>
                </a:solidFill>
                <a:latin typeface="Georgia" pitchFamily="34" charset="0"/>
                <a:ea typeface="Georgia" pitchFamily="34" charset="-122"/>
                <a:cs typeface="Georgia" pitchFamily="34" charset="-120"/>
              </a:rPr>
              <a:t>Dallas–Fort Worth is one of the most active fix &amp; flip markets in the country. Experienced flippers need fast, reliable capital — and banks can't move at the speed these deals require.</a:t>
            </a:r>
            <a:endParaRPr lang="en-US" sz="1250" dirty="0"/>
          </a:p>
          <a:p>
            <a:pPr indent="0" marL="0">
              <a:lnSpc>
                <a:spcPts val="2000"/>
              </a:lnSpc>
              <a:buNone/>
            </a:pPr>
            <a:endParaRPr lang="en-US" sz="1250" dirty="0"/>
          </a:p>
          <a:p>
            <a:pPr indent="0" marL="0">
              <a:lnSpc>
                <a:spcPts val="2000"/>
              </a:lnSpc>
              <a:buNone/>
            </a:pPr>
            <a:r>
              <a:rPr lang="en-US" sz="1250" dirty="0">
                <a:solidFill>
                  <a:srgbClr val="2E3B38"/>
                </a:solidFill>
                <a:latin typeface="Georgia" pitchFamily="34" charset="0"/>
                <a:ea typeface="Georgia" pitchFamily="34" charset="-122"/>
                <a:cs typeface="Georgia" pitchFamily="34" charset="-120"/>
              </a:rPr>
              <a:t>Private lending fills that gap, and lenders get paid for it. Lazy Dog Capital connects private capital with vetted flippers on short-term loans secured by real property.</a:t>
            </a:r>
            <a:endParaRPr lang="en-US" sz="1250" dirty="0"/>
          </a:p>
        </p:txBody>
      </p:sp>
      <p:sp>
        <p:nvSpPr>
          <p:cNvPr id="6" name="Shape 3"/>
          <p:cNvSpPr/>
          <p:nvPr/>
        </p:nvSpPr>
        <p:spPr>
          <a:xfrm>
            <a:off x="4956048" y="1389888"/>
            <a:ext cx="3621024" cy="676656"/>
          </a:xfrm>
          <a:prstGeom prst="roundRect">
            <a:avLst>
              <a:gd name="adj" fmla="val 8108"/>
            </a:avLst>
          </a:prstGeom>
          <a:solidFill>
            <a:srgbClr val="F5F7F6"/>
          </a:solidFill>
          <a:ln w="12700">
            <a:solidFill>
              <a:srgbClr val="F5F7F6"/>
            </a:solidFill>
            <a:prstDash val="solid"/>
          </a:ln>
        </p:spPr>
      </p:sp>
      <p:sp>
        <p:nvSpPr>
          <p:cNvPr id="7" name="Text 4"/>
          <p:cNvSpPr/>
          <p:nvPr/>
        </p:nvSpPr>
        <p:spPr>
          <a:xfrm>
            <a:off x="5138928" y="1536192"/>
            <a:ext cx="1417320" cy="384048"/>
          </a:xfrm>
          <a:prstGeom prst="rect">
            <a:avLst/>
          </a:prstGeom>
          <a:noFill/>
          <a:ln/>
        </p:spPr>
        <p:txBody>
          <a:bodyPr wrap="square" lIns="0" tIns="0" rIns="0" bIns="0" rtlCol="0" anchor="ctr"/>
          <a:lstStyle/>
          <a:p>
            <a:pPr indent="0" marL="0">
              <a:buNone/>
            </a:pPr>
            <a:r>
              <a:rPr lang="en-US" sz="1800" b="1" dirty="0">
                <a:solidFill>
                  <a:srgbClr val="1E3C36"/>
                </a:solidFill>
                <a:latin typeface="Georgia" pitchFamily="34" charset="0"/>
                <a:ea typeface="Georgia" pitchFamily="34" charset="-122"/>
                <a:cs typeface="Georgia" pitchFamily="34" charset="-120"/>
              </a:rPr>
              <a:t>Paid first</a:t>
            </a:r>
            <a:endParaRPr lang="en-US" sz="1800" dirty="0"/>
          </a:p>
        </p:txBody>
      </p:sp>
      <p:sp>
        <p:nvSpPr>
          <p:cNvPr id="8" name="Text 5"/>
          <p:cNvSpPr/>
          <p:nvPr/>
        </p:nvSpPr>
        <p:spPr>
          <a:xfrm>
            <a:off x="6528816" y="1508760"/>
            <a:ext cx="1883664" cy="457200"/>
          </a:xfrm>
          <a:prstGeom prst="rect">
            <a:avLst/>
          </a:prstGeom>
          <a:noFill/>
          <a:ln/>
        </p:spPr>
        <p:txBody>
          <a:bodyPr wrap="square" lIns="0" tIns="0" rIns="0" bIns="0" rtlCol="0" anchor="ctr"/>
          <a:lstStyle/>
          <a:p>
            <a:pPr indent="0" marL="0">
              <a:buNone/>
            </a:pPr>
            <a:r>
              <a:rPr lang="en-US" sz="850" dirty="0">
                <a:solidFill>
                  <a:srgbClr val="6B7A75"/>
                </a:solidFill>
                <a:latin typeface="Arial" pitchFamily="34" charset="0"/>
                <a:ea typeface="Arial" pitchFamily="34" charset="-122"/>
                <a:cs typeface="Arial" pitchFamily="34" charset="-120"/>
              </a:rPr>
              <a:t>A recorded first-priority claim, ahead of our own money</a:t>
            </a:r>
            <a:endParaRPr lang="en-US" sz="850" dirty="0"/>
          </a:p>
        </p:txBody>
      </p:sp>
      <p:sp>
        <p:nvSpPr>
          <p:cNvPr id="9" name="Shape 6"/>
          <p:cNvSpPr/>
          <p:nvPr/>
        </p:nvSpPr>
        <p:spPr>
          <a:xfrm>
            <a:off x="4956048" y="2176272"/>
            <a:ext cx="3621024" cy="676656"/>
          </a:xfrm>
          <a:prstGeom prst="roundRect">
            <a:avLst>
              <a:gd name="adj" fmla="val 8108"/>
            </a:avLst>
          </a:prstGeom>
          <a:solidFill>
            <a:srgbClr val="F5F7F6"/>
          </a:solidFill>
          <a:ln w="12700">
            <a:solidFill>
              <a:srgbClr val="F5F7F6"/>
            </a:solidFill>
            <a:prstDash val="solid"/>
          </a:ln>
        </p:spPr>
      </p:sp>
      <p:sp>
        <p:nvSpPr>
          <p:cNvPr id="10" name="Text 7"/>
          <p:cNvSpPr/>
          <p:nvPr/>
        </p:nvSpPr>
        <p:spPr>
          <a:xfrm>
            <a:off x="5138928" y="2322576"/>
            <a:ext cx="1417320" cy="384048"/>
          </a:xfrm>
          <a:prstGeom prst="rect">
            <a:avLst/>
          </a:prstGeom>
          <a:noFill/>
          <a:ln/>
        </p:spPr>
        <p:txBody>
          <a:bodyPr wrap="square" lIns="0" tIns="0" rIns="0" bIns="0" rtlCol="0" anchor="ctr"/>
          <a:lstStyle/>
          <a:p>
            <a:pPr indent="0" marL="0">
              <a:buNone/>
            </a:pPr>
            <a:r>
              <a:rPr lang="en-US" sz="1800" b="1" dirty="0">
                <a:solidFill>
                  <a:srgbClr val="1E3C36"/>
                </a:solidFill>
                <a:latin typeface="Georgia" pitchFamily="34" charset="0"/>
                <a:ea typeface="Georgia" pitchFamily="34" charset="-122"/>
                <a:cs typeface="Georgia" pitchFamily="34" charset="-120"/>
              </a:rPr>
              <a:t>80% max</a:t>
            </a:r>
            <a:endParaRPr lang="en-US" sz="1800" dirty="0"/>
          </a:p>
        </p:txBody>
      </p:sp>
      <p:sp>
        <p:nvSpPr>
          <p:cNvPr id="11" name="Text 8"/>
          <p:cNvSpPr/>
          <p:nvPr/>
        </p:nvSpPr>
        <p:spPr>
          <a:xfrm>
            <a:off x="6528816" y="2295144"/>
            <a:ext cx="1883664" cy="457200"/>
          </a:xfrm>
          <a:prstGeom prst="rect">
            <a:avLst/>
          </a:prstGeom>
          <a:noFill/>
          <a:ln/>
        </p:spPr>
        <p:txBody>
          <a:bodyPr wrap="square" lIns="0" tIns="0" rIns="0" bIns="0" rtlCol="0" anchor="ctr"/>
          <a:lstStyle/>
          <a:p>
            <a:pPr indent="0" marL="0">
              <a:buNone/>
            </a:pPr>
            <a:r>
              <a:rPr lang="en-US" sz="850" dirty="0">
                <a:solidFill>
                  <a:srgbClr val="6B7A75"/>
                </a:solidFill>
                <a:latin typeface="Arial" pitchFamily="34" charset="0"/>
                <a:ea typeface="Arial" pitchFamily="34" charset="-122"/>
                <a:cs typeface="Arial" pitchFamily="34" charset="-120"/>
              </a:rPr>
              <a:t>Every loan capped at 80% of after-repair value</a:t>
            </a:r>
            <a:endParaRPr lang="en-US" sz="850" dirty="0"/>
          </a:p>
        </p:txBody>
      </p:sp>
      <p:sp>
        <p:nvSpPr>
          <p:cNvPr id="12" name="Shape 9"/>
          <p:cNvSpPr/>
          <p:nvPr/>
        </p:nvSpPr>
        <p:spPr>
          <a:xfrm>
            <a:off x="4956048" y="2962656"/>
            <a:ext cx="3621024" cy="676656"/>
          </a:xfrm>
          <a:prstGeom prst="roundRect">
            <a:avLst>
              <a:gd name="adj" fmla="val 8108"/>
            </a:avLst>
          </a:prstGeom>
          <a:solidFill>
            <a:srgbClr val="F5F7F6"/>
          </a:solidFill>
          <a:ln w="12700">
            <a:solidFill>
              <a:srgbClr val="F5F7F6"/>
            </a:solidFill>
            <a:prstDash val="solid"/>
          </a:ln>
        </p:spPr>
      </p:sp>
      <p:sp>
        <p:nvSpPr>
          <p:cNvPr id="13" name="Text 10"/>
          <p:cNvSpPr/>
          <p:nvPr/>
        </p:nvSpPr>
        <p:spPr>
          <a:xfrm>
            <a:off x="5138928" y="3108960"/>
            <a:ext cx="1417320" cy="384048"/>
          </a:xfrm>
          <a:prstGeom prst="rect">
            <a:avLst/>
          </a:prstGeom>
          <a:noFill/>
          <a:ln/>
        </p:spPr>
        <p:txBody>
          <a:bodyPr wrap="square" lIns="0" tIns="0" rIns="0" bIns="0" rtlCol="0" anchor="ctr"/>
          <a:lstStyle/>
          <a:p>
            <a:pPr indent="0" marL="0">
              <a:buNone/>
            </a:pPr>
            <a:r>
              <a:rPr lang="en-US" sz="1800" b="1" dirty="0">
                <a:solidFill>
                  <a:srgbClr val="1E3C36"/>
                </a:solidFill>
                <a:latin typeface="Georgia" pitchFamily="34" charset="0"/>
                <a:ea typeface="Georgia" pitchFamily="34" charset="-122"/>
                <a:cs typeface="Georgia" pitchFamily="34" charset="-120"/>
              </a:rPr>
              <a:t>7–9 months</a:t>
            </a:r>
            <a:endParaRPr lang="en-US" sz="1800" dirty="0"/>
          </a:p>
        </p:txBody>
      </p:sp>
      <p:sp>
        <p:nvSpPr>
          <p:cNvPr id="14" name="Text 11"/>
          <p:cNvSpPr/>
          <p:nvPr/>
        </p:nvSpPr>
        <p:spPr>
          <a:xfrm>
            <a:off x="6528816" y="3081528"/>
            <a:ext cx="1883664" cy="457200"/>
          </a:xfrm>
          <a:prstGeom prst="rect">
            <a:avLst/>
          </a:prstGeom>
          <a:noFill/>
          <a:ln/>
        </p:spPr>
        <p:txBody>
          <a:bodyPr wrap="square" lIns="0" tIns="0" rIns="0" bIns="0" rtlCol="0" anchor="ctr"/>
          <a:lstStyle/>
          <a:p>
            <a:pPr indent="0" marL="0">
              <a:buNone/>
            </a:pPr>
            <a:r>
              <a:rPr lang="en-US" sz="850" dirty="0">
                <a:solidFill>
                  <a:srgbClr val="6B7A75"/>
                </a:solidFill>
                <a:latin typeface="Arial" pitchFamily="34" charset="0"/>
                <a:ea typeface="Arial" pitchFamily="34" charset="-122"/>
                <a:cs typeface="Arial" pitchFamily="34" charset="-120"/>
              </a:rPr>
              <a:t>Expected time frame — principal back at payoff</a:t>
            </a:r>
            <a:endParaRPr lang="en-US" sz="850" dirty="0"/>
          </a:p>
        </p:txBody>
      </p:sp>
      <p:sp>
        <p:nvSpPr>
          <p:cNvPr id="15" name="Shape 12"/>
          <p:cNvSpPr/>
          <p:nvPr/>
        </p:nvSpPr>
        <p:spPr>
          <a:xfrm>
            <a:off x="4956048" y="3749040"/>
            <a:ext cx="3621024" cy="676656"/>
          </a:xfrm>
          <a:prstGeom prst="roundRect">
            <a:avLst>
              <a:gd name="adj" fmla="val 8108"/>
            </a:avLst>
          </a:prstGeom>
          <a:solidFill>
            <a:srgbClr val="F5F7F6"/>
          </a:solidFill>
          <a:ln w="12700">
            <a:solidFill>
              <a:srgbClr val="F5F7F6"/>
            </a:solidFill>
            <a:prstDash val="solid"/>
          </a:ln>
        </p:spPr>
      </p:sp>
      <p:sp>
        <p:nvSpPr>
          <p:cNvPr id="16" name="Text 13"/>
          <p:cNvSpPr/>
          <p:nvPr/>
        </p:nvSpPr>
        <p:spPr>
          <a:xfrm>
            <a:off x="5138928" y="3895344"/>
            <a:ext cx="1417320" cy="384048"/>
          </a:xfrm>
          <a:prstGeom prst="rect">
            <a:avLst/>
          </a:prstGeom>
          <a:noFill/>
          <a:ln/>
        </p:spPr>
        <p:txBody>
          <a:bodyPr wrap="square" lIns="0" tIns="0" rIns="0" bIns="0" rtlCol="0" anchor="ctr"/>
          <a:lstStyle/>
          <a:p>
            <a:pPr indent="0" marL="0">
              <a:buNone/>
            </a:pPr>
            <a:r>
              <a:rPr lang="en-US" sz="1800" b="1" dirty="0">
                <a:solidFill>
                  <a:srgbClr val="1E3C36"/>
                </a:solidFill>
                <a:latin typeface="Georgia" pitchFamily="34" charset="0"/>
                <a:ea typeface="Georgia" pitchFamily="34" charset="-122"/>
                <a:cs typeface="Georgia" pitchFamily="34" charset="-120"/>
              </a:rPr>
              <a:t>5.5–7.0%</a:t>
            </a:r>
            <a:endParaRPr lang="en-US" sz="1800" dirty="0"/>
          </a:p>
        </p:txBody>
      </p:sp>
      <p:sp>
        <p:nvSpPr>
          <p:cNvPr id="17" name="Text 14"/>
          <p:cNvSpPr/>
          <p:nvPr/>
        </p:nvSpPr>
        <p:spPr>
          <a:xfrm>
            <a:off x="6528816" y="3867912"/>
            <a:ext cx="1883664" cy="457200"/>
          </a:xfrm>
          <a:prstGeom prst="rect">
            <a:avLst/>
          </a:prstGeom>
          <a:noFill/>
          <a:ln/>
        </p:spPr>
        <p:txBody>
          <a:bodyPr wrap="square" lIns="0" tIns="0" rIns="0" bIns="0" rtlCol="0" anchor="ctr"/>
          <a:lstStyle/>
          <a:p>
            <a:pPr indent="0" marL="0">
              <a:buNone/>
            </a:pPr>
            <a:r>
              <a:rPr lang="en-US" sz="850" dirty="0">
                <a:solidFill>
                  <a:srgbClr val="6B7A75"/>
                </a:solidFill>
                <a:latin typeface="Arial" pitchFamily="34" charset="0"/>
                <a:ea typeface="Arial" pitchFamily="34" charset="-122"/>
                <a:cs typeface="Arial" pitchFamily="34" charset="-120"/>
              </a:rPr>
              <a:t>Annualized rate, paid monthly</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8010144" cy="219456"/>
          </a:xfrm>
          <a:prstGeom prst="rect">
            <a:avLst/>
          </a:prstGeom>
          <a:noFill/>
          <a:ln/>
        </p:spPr>
        <p:txBody>
          <a:bodyPr wrap="square" lIns="0" tIns="0" rIns="0" bIns="0" rtlCol="0" anchor="ctr"/>
          <a:lstStyle/>
          <a:p>
            <a:pPr indent="0" marL="0">
              <a:buNone/>
            </a:pPr>
            <a:r>
              <a:rPr lang="en-US" sz="900" b="1" spc="200" kern="0" dirty="0">
                <a:solidFill>
                  <a:srgbClr val="C89430"/>
                </a:solidFill>
                <a:latin typeface="Arial" pitchFamily="34" charset="0"/>
                <a:ea typeface="Arial" pitchFamily="34" charset="-122"/>
                <a:cs typeface="Arial" pitchFamily="34" charset="-120"/>
              </a:rPr>
              <a:t>THE STRUCTURE</a:t>
            </a:r>
            <a:endParaRPr lang="en-US" sz="900" dirty="0"/>
          </a:p>
        </p:txBody>
      </p:sp>
      <p:sp>
        <p:nvSpPr>
          <p:cNvPr id="3" name="Text 1"/>
          <p:cNvSpPr/>
          <p:nvPr/>
        </p:nvSpPr>
        <p:spPr>
          <a:xfrm>
            <a:off x="566928" y="603504"/>
            <a:ext cx="8010144" cy="566928"/>
          </a:xfrm>
          <a:prstGeom prst="rect">
            <a:avLst/>
          </a:prstGeom>
          <a:noFill/>
          <a:ln/>
        </p:spPr>
        <p:txBody>
          <a:bodyPr wrap="square" lIns="0" tIns="0" rIns="0" bIns="0" rtlCol="0" anchor="ctr"/>
          <a:lstStyle/>
          <a:p>
            <a:pPr indent="0" marL="0">
              <a:buNone/>
            </a:pPr>
            <a:r>
              <a:rPr lang="en-US" sz="3300" b="1" dirty="0">
                <a:solidFill>
                  <a:srgbClr val="1E3C36"/>
                </a:solidFill>
                <a:latin typeface="Georgia" pitchFamily="34" charset="0"/>
                <a:ea typeface="Georgia" pitchFamily="34" charset="-122"/>
                <a:cs typeface="Georgia" pitchFamily="34" charset="-120"/>
              </a:rPr>
              <a:t>How It Works</a:t>
            </a:r>
            <a:endParaRPr lang="en-US" sz="3300" dirty="0"/>
          </a:p>
        </p:txBody>
      </p:sp>
      <p:pic>
        <p:nvPicPr>
          <p:cNvPr id="4" name="Image 0" descr="preencoded.png">    </p:cNvPr>
          <p:cNvPicPr>
            <a:picLocks noChangeAspect="1"/>
          </p:cNvPicPr>
          <p:nvPr/>
        </p:nvPicPr>
        <p:blipFill>
          <a:blip r:embed="rId1"/>
          <a:stretch>
            <a:fillRect/>
          </a:stretch>
        </p:blipFill>
        <p:spPr>
          <a:xfrm>
            <a:off x="8266176" y="329184"/>
            <a:ext cx="274320" cy="310896"/>
          </a:xfrm>
          <a:prstGeom prst="rect">
            <a:avLst/>
          </a:prstGeom>
        </p:spPr>
      </p:pic>
      <p:sp>
        <p:nvSpPr>
          <p:cNvPr id="5" name="Shape 2"/>
          <p:cNvSpPr/>
          <p:nvPr/>
        </p:nvSpPr>
        <p:spPr>
          <a:xfrm>
            <a:off x="566928" y="1389888"/>
            <a:ext cx="329184" cy="329184"/>
          </a:xfrm>
          <a:prstGeom prst="ellipse">
            <a:avLst/>
          </a:prstGeom>
          <a:solidFill>
            <a:srgbClr val="1E3C36"/>
          </a:solidFill>
          <a:ln w="12700">
            <a:solidFill>
              <a:srgbClr val="1E3C36"/>
            </a:solidFill>
            <a:prstDash val="solid"/>
          </a:ln>
        </p:spPr>
      </p:sp>
      <p:sp>
        <p:nvSpPr>
          <p:cNvPr id="6" name="Text 3"/>
          <p:cNvSpPr/>
          <p:nvPr/>
        </p:nvSpPr>
        <p:spPr>
          <a:xfrm>
            <a:off x="566928" y="1389888"/>
            <a:ext cx="329184" cy="329184"/>
          </a:xfrm>
          <a:prstGeom prst="rect">
            <a:avLst/>
          </a:prstGeom>
          <a:noFill/>
          <a:ln/>
        </p:spPr>
        <p:txBody>
          <a:bodyPr wrap="square" lIns="0" tIns="0" rIns="0" bIns="0" rtlCol="0" anchor="ctr"/>
          <a:lstStyle/>
          <a:p>
            <a:pPr algn="ctr" indent="0" marL="0">
              <a:buNone/>
            </a:pPr>
            <a:r>
              <a:rPr lang="en-US" sz="1200" b="1" dirty="0">
                <a:solidFill>
                  <a:srgbClr val="F0EADE"/>
                </a:solidFill>
                <a:latin typeface="Arial" pitchFamily="34" charset="0"/>
                <a:ea typeface="Arial" pitchFamily="34" charset="-122"/>
                <a:cs typeface="Arial" pitchFamily="34" charset="-120"/>
              </a:rPr>
              <a:t>1</a:t>
            </a:r>
            <a:endParaRPr lang="en-US" sz="1200" dirty="0"/>
          </a:p>
        </p:txBody>
      </p:sp>
      <p:sp>
        <p:nvSpPr>
          <p:cNvPr id="7" name="Text 4"/>
          <p:cNvSpPr/>
          <p:nvPr/>
        </p:nvSpPr>
        <p:spPr>
          <a:xfrm>
            <a:off x="1042416" y="1371600"/>
            <a:ext cx="7443216" cy="384048"/>
          </a:xfrm>
          <a:prstGeom prst="rect">
            <a:avLst/>
          </a:prstGeom>
          <a:noFill/>
          <a:ln/>
        </p:spPr>
        <p:txBody>
          <a:bodyPr wrap="square" lIns="0" tIns="0" rIns="0" bIns="0" rtlCol="0" anchor="ctr"/>
          <a:lstStyle/>
          <a:p>
            <a:pPr indent="0" marL="0">
              <a:buNone/>
            </a:pPr>
            <a:r>
              <a:rPr lang="en-US" sz="1150" dirty="0">
                <a:solidFill>
                  <a:srgbClr val="2E3B38"/>
                </a:solidFill>
                <a:latin typeface="Georgia" pitchFamily="34" charset="0"/>
                <a:ea typeface="Georgia" pitchFamily="34" charset="-122"/>
                <a:cs typeface="Georgia" pitchFamily="34" charset="-120"/>
              </a:rPr>
              <a:t>We identify and underwrite a deal with an experienced flipper.</a:t>
            </a:r>
            <a:endParaRPr lang="en-US" sz="1150" dirty="0"/>
          </a:p>
        </p:txBody>
      </p:sp>
      <p:sp>
        <p:nvSpPr>
          <p:cNvPr id="8" name="Shape 5"/>
          <p:cNvSpPr/>
          <p:nvPr/>
        </p:nvSpPr>
        <p:spPr>
          <a:xfrm>
            <a:off x="566928" y="1956816"/>
            <a:ext cx="329184" cy="329184"/>
          </a:xfrm>
          <a:prstGeom prst="ellipse">
            <a:avLst/>
          </a:prstGeom>
          <a:solidFill>
            <a:srgbClr val="C89430"/>
          </a:solidFill>
          <a:ln w="12700">
            <a:solidFill>
              <a:srgbClr val="C89430"/>
            </a:solidFill>
            <a:prstDash val="solid"/>
          </a:ln>
        </p:spPr>
      </p:sp>
      <p:sp>
        <p:nvSpPr>
          <p:cNvPr id="9" name="Text 6"/>
          <p:cNvSpPr/>
          <p:nvPr/>
        </p:nvSpPr>
        <p:spPr>
          <a:xfrm>
            <a:off x="566928" y="19568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0" name="Text 7"/>
          <p:cNvSpPr/>
          <p:nvPr/>
        </p:nvSpPr>
        <p:spPr>
          <a:xfrm>
            <a:off x="1042416" y="1938528"/>
            <a:ext cx="7443216" cy="384048"/>
          </a:xfrm>
          <a:prstGeom prst="rect">
            <a:avLst/>
          </a:prstGeom>
          <a:noFill/>
          <a:ln/>
        </p:spPr>
        <p:txBody>
          <a:bodyPr wrap="square" lIns="0" tIns="0" rIns="0" bIns="0" rtlCol="0" anchor="ctr"/>
          <a:lstStyle/>
          <a:p>
            <a:pPr indent="0" marL="0">
              <a:buNone/>
            </a:pPr>
            <a:r>
              <a:rPr lang="en-US" sz="1150" b="1" dirty="0">
                <a:solidFill>
                  <a:srgbClr val="2E3B38"/>
                </a:solidFill>
                <a:latin typeface="Georgia" pitchFamily="34" charset="0"/>
                <a:ea typeface="Georgia" pitchFamily="34" charset="-122"/>
                <a:cs typeface="Georgia" pitchFamily="34" charset="-120"/>
              </a:rPr>
              <a:t>Lazy Dog makes one first-lien loan to the borrower — 80% of after-repair value — secured by a recorded first-lien deed of trust.</a:t>
            </a:r>
            <a:endParaRPr lang="en-US" sz="1150" dirty="0"/>
          </a:p>
        </p:txBody>
      </p:sp>
      <p:sp>
        <p:nvSpPr>
          <p:cNvPr id="11" name="Shape 8"/>
          <p:cNvSpPr/>
          <p:nvPr/>
        </p:nvSpPr>
        <p:spPr>
          <a:xfrm>
            <a:off x="566928" y="2523744"/>
            <a:ext cx="329184" cy="329184"/>
          </a:xfrm>
          <a:prstGeom prst="ellipse">
            <a:avLst/>
          </a:prstGeom>
          <a:solidFill>
            <a:srgbClr val="1E3C36"/>
          </a:solidFill>
          <a:ln w="12700">
            <a:solidFill>
              <a:srgbClr val="1E3C36"/>
            </a:solidFill>
            <a:prstDash val="solid"/>
          </a:ln>
        </p:spPr>
      </p:sp>
      <p:sp>
        <p:nvSpPr>
          <p:cNvPr id="12" name="Text 9"/>
          <p:cNvSpPr/>
          <p:nvPr/>
        </p:nvSpPr>
        <p:spPr>
          <a:xfrm>
            <a:off x="566928" y="2523744"/>
            <a:ext cx="329184" cy="329184"/>
          </a:xfrm>
          <a:prstGeom prst="rect">
            <a:avLst/>
          </a:prstGeom>
          <a:noFill/>
          <a:ln/>
        </p:spPr>
        <p:txBody>
          <a:bodyPr wrap="square" lIns="0" tIns="0" rIns="0" bIns="0" rtlCol="0" anchor="ctr"/>
          <a:lstStyle/>
          <a:p>
            <a:pPr algn="ctr" indent="0" marL="0">
              <a:buNone/>
            </a:pPr>
            <a:r>
              <a:rPr lang="en-US" sz="1200" b="1" dirty="0">
                <a:solidFill>
                  <a:srgbClr val="F0EADE"/>
                </a:solidFill>
                <a:latin typeface="Arial" pitchFamily="34" charset="0"/>
                <a:ea typeface="Arial" pitchFamily="34" charset="-122"/>
                <a:cs typeface="Arial" pitchFamily="34" charset="-120"/>
              </a:rPr>
              <a:t>3</a:t>
            </a:r>
            <a:endParaRPr lang="en-US" sz="1200" dirty="0"/>
          </a:p>
        </p:txBody>
      </p:sp>
      <p:sp>
        <p:nvSpPr>
          <p:cNvPr id="13" name="Text 10"/>
          <p:cNvSpPr/>
          <p:nvPr/>
        </p:nvSpPr>
        <p:spPr>
          <a:xfrm>
            <a:off x="1042416" y="2505456"/>
            <a:ext cx="7443216" cy="384048"/>
          </a:xfrm>
          <a:prstGeom prst="rect">
            <a:avLst/>
          </a:prstGeom>
          <a:noFill/>
          <a:ln/>
        </p:spPr>
        <p:txBody>
          <a:bodyPr wrap="square" lIns="0" tIns="0" rIns="0" bIns="0" rtlCol="0" anchor="ctr"/>
          <a:lstStyle/>
          <a:p>
            <a:pPr indent="0" marL="0">
              <a:buNone/>
            </a:pPr>
            <a:r>
              <a:rPr lang="en-US" sz="1150" dirty="0">
                <a:solidFill>
                  <a:srgbClr val="2E3B38"/>
                </a:solidFill>
                <a:latin typeface="Georgia" pitchFamily="34" charset="0"/>
                <a:ea typeface="Georgia" pitchFamily="34" charset="-122"/>
                <a:cs typeface="Georgia" pitchFamily="34" charset="-120"/>
              </a:rPr>
              <a:t>You fund your share: 45–60% of that loan.</a:t>
            </a:r>
            <a:endParaRPr lang="en-US" sz="1150" dirty="0"/>
          </a:p>
        </p:txBody>
      </p:sp>
      <p:sp>
        <p:nvSpPr>
          <p:cNvPr id="14" name="Shape 11"/>
          <p:cNvSpPr/>
          <p:nvPr/>
        </p:nvSpPr>
        <p:spPr>
          <a:xfrm>
            <a:off x="566928" y="3090672"/>
            <a:ext cx="329184" cy="329184"/>
          </a:xfrm>
          <a:prstGeom prst="ellipse">
            <a:avLst/>
          </a:prstGeom>
          <a:solidFill>
            <a:srgbClr val="C89430"/>
          </a:solidFill>
          <a:ln w="12700">
            <a:solidFill>
              <a:srgbClr val="C89430"/>
            </a:solidFill>
            <a:prstDash val="solid"/>
          </a:ln>
        </p:spPr>
      </p:sp>
      <p:sp>
        <p:nvSpPr>
          <p:cNvPr id="15" name="Text 12"/>
          <p:cNvSpPr/>
          <p:nvPr/>
        </p:nvSpPr>
        <p:spPr>
          <a:xfrm>
            <a:off x="566928" y="30906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6" name="Text 13"/>
          <p:cNvSpPr/>
          <p:nvPr/>
        </p:nvSpPr>
        <p:spPr>
          <a:xfrm>
            <a:off x="1042416" y="3072384"/>
            <a:ext cx="7443216" cy="384048"/>
          </a:xfrm>
          <a:prstGeom prst="rect">
            <a:avLst/>
          </a:prstGeom>
          <a:noFill/>
          <a:ln/>
        </p:spPr>
        <p:txBody>
          <a:bodyPr wrap="square" lIns="0" tIns="0" rIns="0" bIns="0" rtlCol="0" anchor="ctr"/>
          <a:lstStyle/>
          <a:p>
            <a:pPr indent="0" marL="0">
              <a:buNone/>
            </a:pPr>
            <a:r>
              <a:rPr lang="en-US" sz="1150" b="1" dirty="0">
                <a:solidFill>
                  <a:srgbClr val="2E3B38"/>
                </a:solidFill>
                <a:latin typeface="Georgia" pitchFamily="34" charset="0"/>
                <a:ea typeface="Georgia" pitchFamily="34" charset="-122"/>
                <a:cs typeface="Georgia" pitchFamily="34" charset="-120"/>
              </a:rPr>
              <a:t>You hold a recorded assignment of the first lien — a first-priority claim for your investment amount, ahead of our own money.</a:t>
            </a:r>
            <a:endParaRPr lang="en-US" sz="1150" dirty="0"/>
          </a:p>
        </p:txBody>
      </p:sp>
      <p:sp>
        <p:nvSpPr>
          <p:cNvPr id="17" name="Shape 14"/>
          <p:cNvSpPr/>
          <p:nvPr/>
        </p:nvSpPr>
        <p:spPr>
          <a:xfrm>
            <a:off x="566928" y="3657600"/>
            <a:ext cx="329184" cy="329184"/>
          </a:xfrm>
          <a:prstGeom prst="ellipse">
            <a:avLst/>
          </a:prstGeom>
          <a:solidFill>
            <a:srgbClr val="1E3C36"/>
          </a:solidFill>
          <a:ln w="12700">
            <a:solidFill>
              <a:srgbClr val="1E3C36"/>
            </a:solidFill>
            <a:prstDash val="solid"/>
          </a:ln>
        </p:spPr>
      </p:sp>
      <p:sp>
        <p:nvSpPr>
          <p:cNvPr id="18" name="Text 15"/>
          <p:cNvSpPr/>
          <p:nvPr/>
        </p:nvSpPr>
        <p:spPr>
          <a:xfrm>
            <a:off x="566928" y="3657600"/>
            <a:ext cx="329184" cy="329184"/>
          </a:xfrm>
          <a:prstGeom prst="rect">
            <a:avLst/>
          </a:prstGeom>
          <a:noFill/>
          <a:ln/>
        </p:spPr>
        <p:txBody>
          <a:bodyPr wrap="square" lIns="0" tIns="0" rIns="0" bIns="0" rtlCol="0" anchor="ctr"/>
          <a:lstStyle/>
          <a:p>
            <a:pPr algn="ctr" indent="0" marL="0">
              <a:buNone/>
            </a:pPr>
            <a:r>
              <a:rPr lang="en-US" sz="1200" b="1" dirty="0">
                <a:solidFill>
                  <a:srgbClr val="F0EADE"/>
                </a:solidFill>
                <a:latin typeface="Arial" pitchFamily="34" charset="0"/>
                <a:ea typeface="Arial" pitchFamily="34" charset="-122"/>
                <a:cs typeface="Arial" pitchFamily="34" charset="-120"/>
              </a:rPr>
              <a:t>5</a:t>
            </a:r>
            <a:endParaRPr lang="en-US" sz="1200" dirty="0"/>
          </a:p>
        </p:txBody>
      </p:sp>
      <p:sp>
        <p:nvSpPr>
          <p:cNvPr id="19" name="Text 16"/>
          <p:cNvSpPr/>
          <p:nvPr/>
        </p:nvSpPr>
        <p:spPr>
          <a:xfrm>
            <a:off x="1042416" y="3639312"/>
            <a:ext cx="7443216" cy="384048"/>
          </a:xfrm>
          <a:prstGeom prst="rect">
            <a:avLst/>
          </a:prstGeom>
          <a:noFill/>
          <a:ln/>
        </p:spPr>
        <p:txBody>
          <a:bodyPr wrap="square" lIns="0" tIns="0" rIns="0" bIns="0" rtlCol="0" anchor="ctr"/>
          <a:lstStyle/>
          <a:p>
            <a:pPr indent="0" marL="0">
              <a:buNone/>
            </a:pPr>
            <a:r>
              <a:rPr lang="en-US" sz="1150" dirty="0">
                <a:solidFill>
                  <a:srgbClr val="2E3B38"/>
                </a:solidFill>
                <a:latin typeface="Georgia" pitchFamily="34" charset="0"/>
                <a:ea typeface="Georgia" pitchFamily="34" charset="-122"/>
                <a:cs typeface="Georgia" pitchFamily="34" charset="-120"/>
              </a:rPr>
              <a:t>The borrower puts in 10% of the purchase price and pays monthly interest; at payoff, your principal comes back first.</a:t>
            </a:r>
            <a:endParaRPr lang="en-US" sz="1150" dirty="0"/>
          </a:p>
        </p:txBody>
      </p:sp>
      <p:sp>
        <p:nvSpPr>
          <p:cNvPr id="20" name="Shape 17"/>
          <p:cNvSpPr/>
          <p:nvPr/>
        </p:nvSpPr>
        <p:spPr>
          <a:xfrm>
            <a:off x="566928" y="4315968"/>
            <a:ext cx="8010144" cy="457200"/>
          </a:xfrm>
          <a:prstGeom prst="roundRect">
            <a:avLst>
              <a:gd name="adj" fmla="val 12000"/>
            </a:avLst>
          </a:prstGeom>
          <a:solidFill>
            <a:srgbClr val="FAF6EC"/>
          </a:solidFill>
          <a:ln w="12700">
            <a:solidFill>
              <a:srgbClr val="E8DEC6"/>
            </a:solidFill>
            <a:prstDash val="solid"/>
          </a:ln>
        </p:spPr>
      </p:sp>
      <p:sp>
        <p:nvSpPr>
          <p:cNvPr id="21" name="Text 18"/>
          <p:cNvSpPr/>
          <p:nvPr/>
        </p:nvSpPr>
        <p:spPr>
          <a:xfrm>
            <a:off x="768096" y="4315968"/>
            <a:ext cx="7607808" cy="457200"/>
          </a:xfrm>
          <a:prstGeom prst="rect">
            <a:avLst/>
          </a:prstGeom>
          <a:noFill/>
          <a:ln/>
        </p:spPr>
        <p:txBody>
          <a:bodyPr wrap="square" lIns="0" tIns="0" rIns="0" bIns="0" rtlCol="0" anchor="ctr"/>
          <a:lstStyle/>
          <a:p>
            <a:pPr indent="0" marL="0">
              <a:buNone/>
            </a:pPr>
            <a:r>
              <a:rPr lang="en-US" sz="1100" b="1" dirty="0">
                <a:solidFill>
                  <a:srgbClr val="1E3C36"/>
                </a:solidFill>
                <a:latin typeface="Georgia" pitchFamily="34" charset="0"/>
                <a:ea typeface="Georgia" pitchFamily="34" charset="-122"/>
                <a:cs typeface="Georgia" pitchFamily="34" charset="-120"/>
              </a:rPr>
              <a:t>Every loan is capped at 80% of after-repair value </a:t>
            </a:r>
            <a:pPr indent="0" marL="0">
              <a:buNone/>
            </a:pPr>
            <a:r>
              <a:rPr lang="en-US" sz="1100" dirty="0">
                <a:solidFill>
                  <a:srgbClr val="2E3B38"/>
                </a:solidFill>
                <a:latin typeface="Georgia" pitchFamily="34" charset="0"/>
                <a:ea typeface="Georgia" pitchFamily="34" charset="-122"/>
                <a:cs typeface="Georgia" pitchFamily="34" charset="-120"/>
              </a:rPr>
              <a:t>— our hard limit on how much sits against a property.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8010144" cy="219456"/>
          </a:xfrm>
          <a:prstGeom prst="rect">
            <a:avLst/>
          </a:prstGeom>
          <a:noFill/>
          <a:ln/>
        </p:spPr>
        <p:txBody>
          <a:bodyPr wrap="square" lIns="0" tIns="0" rIns="0" bIns="0" rtlCol="0" anchor="ctr"/>
          <a:lstStyle/>
          <a:p>
            <a:pPr indent="0" marL="0">
              <a:buNone/>
            </a:pPr>
            <a:r>
              <a:rPr lang="en-US" sz="900" b="1" spc="200" kern="0" dirty="0">
                <a:solidFill>
                  <a:srgbClr val="C89430"/>
                </a:solidFill>
                <a:latin typeface="Arial" pitchFamily="34" charset="0"/>
                <a:ea typeface="Arial" pitchFamily="34" charset="-122"/>
                <a:cs typeface="Arial" pitchFamily="34" charset="-120"/>
              </a:rPr>
              <a:t>3 BED / 2 BATH  ·  1,450 SQ FT  ·  FIX &amp; FLIP</a:t>
            </a:r>
            <a:endParaRPr lang="en-US" sz="900" dirty="0"/>
          </a:p>
        </p:txBody>
      </p:sp>
      <p:sp>
        <p:nvSpPr>
          <p:cNvPr id="3" name="Text 1"/>
          <p:cNvSpPr/>
          <p:nvPr/>
        </p:nvSpPr>
        <p:spPr>
          <a:xfrm>
            <a:off x="566928" y="603504"/>
            <a:ext cx="8010144" cy="566928"/>
          </a:xfrm>
          <a:prstGeom prst="rect">
            <a:avLst/>
          </a:prstGeom>
          <a:noFill/>
          <a:ln/>
        </p:spPr>
        <p:txBody>
          <a:bodyPr wrap="square" lIns="0" tIns="0" rIns="0" bIns="0" rtlCol="0" anchor="ctr"/>
          <a:lstStyle/>
          <a:p>
            <a:pPr indent="0" marL="0">
              <a:buNone/>
            </a:pPr>
            <a:r>
              <a:rPr lang="en-US" sz="3300" b="1" dirty="0">
                <a:solidFill>
                  <a:srgbClr val="1E3C36"/>
                </a:solidFill>
                <a:latin typeface="Georgia" pitchFamily="34" charset="0"/>
                <a:ea typeface="Georgia" pitchFamily="34" charset="-122"/>
                <a:cs typeface="Georgia" pitchFamily="34" charset="-120"/>
              </a:rPr>
              <a:t>A Sample Deal</a:t>
            </a:r>
            <a:endParaRPr lang="en-US" sz="3300" dirty="0"/>
          </a:p>
        </p:txBody>
      </p:sp>
      <p:pic>
        <p:nvPicPr>
          <p:cNvPr id="4" name="Image 0" descr="preencoded.png">    </p:cNvPr>
          <p:cNvPicPr>
            <a:picLocks noChangeAspect="1"/>
          </p:cNvPicPr>
          <p:nvPr/>
        </p:nvPicPr>
        <p:blipFill>
          <a:blip r:embed="rId1"/>
          <a:stretch>
            <a:fillRect/>
          </a:stretch>
        </p:blipFill>
        <p:spPr>
          <a:xfrm>
            <a:off x="8266176" y="329184"/>
            <a:ext cx="274320" cy="310896"/>
          </a:xfrm>
          <a:prstGeom prst="rect">
            <a:avLst/>
          </a:prstGeom>
        </p:spPr>
      </p:pic>
      <p:sp>
        <p:nvSpPr>
          <p:cNvPr id="5" name="Shape 2"/>
          <p:cNvSpPr/>
          <p:nvPr/>
        </p:nvSpPr>
        <p:spPr>
          <a:xfrm>
            <a:off x="566928" y="1389888"/>
            <a:ext cx="4041648" cy="384048"/>
          </a:xfrm>
          <a:prstGeom prst="rect">
            <a:avLst/>
          </a:prstGeom>
          <a:solidFill>
            <a:srgbClr val="F5F7F6"/>
          </a:solidFill>
          <a:ln w="12700">
            <a:solidFill>
              <a:srgbClr val="F5F7F6"/>
            </a:solidFill>
            <a:prstDash val="solid"/>
          </a:ln>
        </p:spPr>
      </p:sp>
      <p:sp>
        <p:nvSpPr>
          <p:cNvPr id="6" name="Text 3"/>
          <p:cNvSpPr/>
          <p:nvPr/>
        </p:nvSpPr>
        <p:spPr>
          <a:xfrm>
            <a:off x="713232" y="1389888"/>
            <a:ext cx="2560320" cy="384048"/>
          </a:xfrm>
          <a:prstGeom prst="rect">
            <a:avLst/>
          </a:prstGeom>
          <a:noFill/>
          <a:ln/>
        </p:spPr>
        <p:txBody>
          <a:bodyPr wrap="square" lIns="0" tIns="0" rIns="0" bIns="0" rtlCol="0" anchor="ctr"/>
          <a:lstStyle/>
          <a:p>
            <a:pPr indent="0" marL="0">
              <a:buNone/>
            </a:pPr>
            <a:r>
              <a:rPr lang="en-US" sz="1150" dirty="0">
                <a:solidFill>
                  <a:srgbClr val="2E3B38"/>
                </a:solidFill>
                <a:latin typeface="Georgia" pitchFamily="34" charset="0"/>
                <a:ea typeface="Georgia" pitchFamily="34" charset="-122"/>
                <a:cs typeface="Georgia" pitchFamily="34" charset="-120"/>
              </a:rPr>
              <a:t>Appraisal (ARV)</a:t>
            </a:r>
            <a:endParaRPr lang="en-US" sz="1150" dirty="0"/>
          </a:p>
        </p:txBody>
      </p:sp>
      <p:sp>
        <p:nvSpPr>
          <p:cNvPr id="7" name="Text 4"/>
          <p:cNvSpPr/>
          <p:nvPr/>
        </p:nvSpPr>
        <p:spPr>
          <a:xfrm>
            <a:off x="2944368" y="1389888"/>
            <a:ext cx="1517904" cy="384048"/>
          </a:xfrm>
          <a:prstGeom prst="rect">
            <a:avLst/>
          </a:prstGeom>
          <a:noFill/>
          <a:ln/>
        </p:spPr>
        <p:txBody>
          <a:bodyPr wrap="square" lIns="0" tIns="0" rIns="0" bIns="0" rtlCol="0" anchor="ctr"/>
          <a:lstStyle/>
          <a:p>
            <a:pPr algn="r" indent="0" marL="0">
              <a:buNone/>
            </a:pPr>
            <a:r>
              <a:rPr lang="en-US" sz="1150" b="1" dirty="0">
                <a:solidFill>
                  <a:srgbClr val="1E3C36"/>
                </a:solidFill>
                <a:latin typeface="Arial" pitchFamily="34" charset="0"/>
                <a:ea typeface="Arial" pitchFamily="34" charset="-122"/>
                <a:cs typeface="Arial" pitchFamily="34" charset="-120"/>
              </a:rPr>
              <a:t>$320,000</a:t>
            </a:r>
            <a:endParaRPr lang="en-US" sz="1150" dirty="0"/>
          </a:p>
        </p:txBody>
      </p:sp>
      <p:sp>
        <p:nvSpPr>
          <p:cNvPr id="8" name="Text 5"/>
          <p:cNvSpPr/>
          <p:nvPr/>
        </p:nvSpPr>
        <p:spPr>
          <a:xfrm>
            <a:off x="713232" y="1773936"/>
            <a:ext cx="2560320" cy="384048"/>
          </a:xfrm>
          <a:prstGeom prst="rect">
            <a:avLst/>
          </a:prstGeom>
          <a:noFill/>
          <a:ln/>
        </p:spPr>
        <p:txBody>
          <a:bodyPr wrap="square" lIns="0" tIns="0" rIns="0" bIns="0" rtlCol="0" anchor="ctr"/>
          <a:lstStyle/>
          <a:p>
            <a:pPr indent="0" marL="0">
              <a:buNone/>
            </a:pPr>
            <a:r>
              <a:rPr lang="en-US" sz="1150" dirty="0">
                <a:solidFill>
                  <a:srgbClr val="2E3B38"/>
                </a:solidFill>
                <a:latin typeface="Georgia" pitchFamily="34" charset="0"/>
                <a:ea typeface="Georgia" pitchFamily="34" charset="-122"/>
                <a:cs typeface="Georgia" pitchFamily="34" charset="-120"/>
              </a:rPr>
              <a:t>Loan (recorded first lien)</a:t>
            </a:r>
            <a:endParaRPr lang="en-US" sz="1150" dirty="0"/>
          </a:p>
        </p:txBody>
      </p:sp>
      <p:sp>
        <p:nvSpPr>
          <p:cNvPr id="9" name="Text 6"/>
          <p:cNvSpPr/>
          <p:nvPr/>
        </p:nvSpPr>
        <p:spPr>
          <a:xfrm>
            <a:off x="2944368" y="1773936"/>
            <a:ext cx="1517904" cy="384048"/>
          </a:xfrm>
          <a:prstGeom prst="rect">
            <a:avLst/>
          </a:prstGeom>
          <a:noFill/>
          <a:ln/>
        </p:spPr>
        <p:txBody>
          <a:bodyPr wrap="square" lIns="0" tIns="0" rIns="0" bIns="0" rtlCol="0" anchor="ctr"/>
          <a:lstStyle/>
          <a:p>
            <a:pPr algn="r" indent="0" marL="0">
              <a:buNone/>
            </a:pPr>
            <a:r>
              <a:rPr lang="en-US" sz="1150" b="1" dirty="0">
                <a:solidFill>
                  <a:srgbClr val="1E3C36"/>
                </a:solidFill>
                <a:latin typeface="Arial" pitchFamily="34" charset="0"/>
                <a:ea typeface="Arial" pitchFamily="34" charset="-122"/>
                <a:cs typeface="Arial" pitchFamily="34" charset="-120"/>
              </a:rPr>
              <a:t>$256,000</a:t>
            </a:r>
            <a:endParaRPr lang="en-US" sz="1150" dirty="0"/>
          </a:p>
        </p:txBody>
      </p:sp>
      <p:sp>
        <p:nvSpPr>
          <p:cNvPr id="10" name="Shape 7"/>
          <p:cNvSpPr/>
          <p:nvPr/>
        </p:nvSpPr>
        <p:spPr>
          <a:xfrm>
            <a:off x="566928" y="2157984"/>
            <a:ext cx="4041648" cy="384048"/>
          </a:xfrm>
          <a:prstGeom prst="rect">
            <a:avLst/>
          </a:prstGeom>
          <a:solidFill>
            <a:srgbClr val="F5F7F6"/>
          </a:solidFill>
          <a:ln w="12700">
            <a:solidFill>
              <a:srgbClr val="F5F7F6"/>
            </a:solidFill>
            <a:prstDash val="solid"/>
          </a:ln>
        </p:spPr>
      </p:sp>
      <p:sp>
        <p:nvSpPr>
          <p:cNvPr id="11" name="Text 8"/>
          <p:cNvSpPr/>
          <p:nvPr/>
        </p:nvSpPr>
        <p:spPr>
          <a:xfrm>
            <a:off x="713232" y="2157984"/>
            <a:ext cx="2560320" cy="384048"/>
          </a:xfrm>
          <a:prstGeom prst="rect">
            <a:avLst/>
          </a:prstGeom>
          <a:noFill/>
          <a:ln/>
        </p:spPr>
        <p:txBody>
          <a:bodyPr wrap="square" lIns="0" tIns="0" rIns="0" bIns="0" rtlCol="0" anchor="ctr"/>
          <a:lstStyle/>
          <a:p>
            <a:pPr indent="0" marL="0">
              <a:buNone/>
            </a:pPr>
            <a:r>
              <a:rPr lang="en-US" sz="1150" dirty="0">
                <a:solidFill>
                  <a:srgbClr val="2E3B38"/>
                </a:solidFill>
                <a:latin typeface="Georgia" pitchFamily="34" charset="0"/>
                <a:ea typeface="Georgia" pitchFamily="34" charset="-122"/>
                <a:cs typeface="Georgia" pitchFamily="34" charset="-120"/>
              </a:rPr>
              <a:t>Purchase price</a:t>
            </a:r>
            <a:endParaRPr lang="en-US" sz="1150" dirty="0"/>
          </a:p>
        </p:txBody>
      </p:sp>
      <p:sp>
        <p:nvSpPr>
          <p:cNvPr id="12" name="Text 9"/>
          <p:cNvSpPr/>
          <p:nvPr/>
        </p:nvSpPr>
        <p:spPr>
          <a:xfrm>
            <a:off x="2944368" y="2157984"/>
            <a:ext cx="1517904" cy="384048"/>
          </a:xfrm>
          <a:prstGeom prst="rect">
            <a:avLst/>
          </a:prstGeom>
          <a:noFill/>
          <a:ln/>
        </p:spPr>
        <p:txBody>
          <a:bodyPr wrap="square" lIns="0" tIns="0" rIns="0" bIns="0" rtlCol="0" anchor="ctr"/>
          <a:lstStyle/>
          <a:p>
            <a:pPr algn="r" indent="0" marL="0">
              <a:buNone/>
            </a:pPr>
            <a:r>
              <a:rPr lang="en-US" sz="1150" b="1" dirty="0">
                <a:solidFill>
                  <a:srgbClr val="1E3C36"/>
                </a:solidFill>
                <a:latin typeface="Arial" pitchFamily="34" charset="0"/>
                <a:ea typeface="Arial" pitchFamily="34" charset="-122"/>
                <a:cs typeface="Arial" pitchFamily="34" charset="-120"/>
              </a:rPr>
              <a:t>$200,000</a:t>
            </a:r>
            <a:endParaRPr lang="en-US" sz="1150" dirty="0"/>
          </a:p>
        </p:txBody>
      </p:sp>
      <p:sp>
        <p:nvSpPr>
          <p:cNvPr id="13" name="Text 10"/>
          <p:cNvSpPr/>
          <p:nvPr/>
        </p:nvSpPr>
        <p:spPr>
          <a:xfrm>
            <a:off x="713232" y="2542032"/>
            <a:ext cx="2560320" cy="384048"/>
          </a:xfrm>
          <a:prstGeom prst="rect">
            <a:avLst/>
          </a:prstGeom>
          <a:noFill/>
          <a:ln/>
        </p:spPr>
        <p:txBody>
          <a:bodyPr wrap="square" lIns="0" tIns="0" rIns="0" bIns="0" rtlCol="0" anchor="ctr"/>
          <a:lstStyle/>
          <a:p>
            <a:pPr indent="0" marL="0">
              <a:buNone/>
            </a:pPr>
            <a:r>
              <a:rPr lang="en-US" sz="1150" dirty="0">
                <a:solidFill>
                  <a:srgbClr val="2E3B38"/>
                </a:solidFill>
                <a:latin typeface="Georgia" pitchFamily="34" charset="0"/>
                <a:ea typeface="Georgia" pitchFamily="34" charset="-122"/>
                <a:cs typeface="Georgia" pitchFamily="34" charset="-120"/>
              </a:rPr>
              <a:t>Rehab budget</a:t>
            </a:r>
            <a:endParaRPr lang="en-US" sz="1150" dirty="0"/>
          </a:p>
        </p:txBody>
      </p:sp>
      <p:sp>
        <p:nvSpPr>
          <p:cNvPr id="14" name="Text 11"/>
          <p:cNvSpPr/>
          <p:nvPr/>
        </p:nvSpPr>
        <p:spPr>
          <a:xfrm>
            <a:off x="2944368" y="2542032"/>
            <a:ext cx="1517904" cy="384048"/>
          </a:xfrm>
          <a:prstGeom prst="rect">
            <a:avLst/>
          </a:prstGeom>
          <a:noFill/>
          <a:ln/>
        </p:spPr>
        <p:txBody>
          <a:bodyPr wrap="square" lIns="0" tIns="0" rIns="0" bIns="0" rtlCol="0" anchor="ctr"/>
          <a:lstStyle/>
          <a:p>
            <a:pPr algn="r" indent="0" marL="0">
              <a:buNone/>
            </a:pPr>
            <a:r>
              <a:rPr lang="en-US" sz="1150" b="1" dirty="0">
                <a:solidFill>
                  <a:srgbClr val="1E3C36"/>
                </a:solidFill>
                <a:latin typeface="Arial" pitchFamily="34" charset="0"/>
                <a:ea typeface="Arial" pitchFamily="34" charset="-122"/>
                <a:cs typeface="Arial" pitchFamily="34" charset="-120"/>
              </a:rPr>
              <a:t>$50,000</a:t>
            </a:r>
            <a:endParaRPr lang="en-US" sz="1150" dirty="0"/>
          </a:p>
        </p:txBody>
      </p:sp>
      <p:sp>
        <p:nvSpPr>
          <p:cNvPr id="15" name="Shape 12"/>
          <p:cNvSpPr/>
          <p:nvPr/>
        </p:nvSpPr>
        <p:spPr>
          <a:xfrm>
            <a:off x="566928" y="2926080"/>
            <a:ext cx="4041648" cy="384048"/>
          </a:xfrm>
          <a:prstGeom prst="rect">
            <a:avLst/>
          </a:prstGeom>
          <a:solidFill>
            <a:srgbClr val="F5F7F6"/>
          </a:solidFill>
          <a:ln w="12700">
            <a:solidFill>
              <a:srgbClr val="F5F7F6"/>
            </a:solidFill>
            <a:prstDash val="solid"/>
          </a:ln>
        </p:spPr>
      </p:sp>
      <p:sp>
        <p:nvSpPr>
          <p:cNvPr id="16" name="Text 13"/>
          <p:cNvSpPr/>
          <p:nvPr/>
        </p:nvSpPr>
        <p:spPr>
          <a:xfrm>
            <a:off x="713232" y="2926080"/>
            <a:ext cx="2560320" cy="384048"/>
          </a:xfrm>
          <a:prstGeom prst="rect">
            <a:avLst/>
          </a:prstGeom>
          <a:noFill/>
          <a:ln/>
        </p:spPr>
        <p:txBody>
          <a:bodyPr wrap="square" lIns="0" tIns="0" rIns="0" bIns="0" rtlCol="0" anchor="ctr"/>
          <a:lstStyle/>
          <a:p>
            <a:pPr indent="0" marL="0">
              <a:buNone/>
            </a:pPr>
            <a:r>
              <a:rPr lang="en-US" sz="1150" dirty="0">
                <a:solidFill>
                  <a:srgbClr val="2E3B38"/>
                </a:solidFill>
                <a:latin typeface="Georgia" pitchFamily="34" charset="0"/>
                <a:ea typeface="Georgia" pitchFamily="34" charset="-122"/>
                <a:cs typeface="Georgia" pitchFamily="34" charset="-120"/>
              </a:rPr>
              <a:t>Estimated time</a:t>
            </a:r>
            <a:endParaRPr lang="en-US" sz="1150" dirty="0"/>
          </a:p>
        </p:txBody>
      </p:sp>
      <p:sp>
        <p:nvSpPr>
          <p:cNvPr id="17" name="Text 14"/>
          <p:cNvSpPr/>
          <p:nvPr/>
        </p:nvSpPr>
        <p:spPr>
          <a:xfrm>
            <a:off x="2944368" y="2926080"/>
            <a:ext cx="1517904" cy="384048"/>
          </a:xfrm>
          <a:prstGeom prst="rect">
            <a:avLst/>
          </a:prstGeom>
          <a:noFill/>
          <a:ln/>
        </p:spPr>
        <p:txBody>
          <a:bodyPr wrap="square" lIns="0" tIns="0" rIns="0" bIns="0" rtlCol="0" anchor="ctr"/>
          <a:lstStyle/>
          <a:p>
            <a:pPr algn="r" indent="0" marL="0">
              <a:buNone/>
            </a:pPr>
            <a:r>
              <a:rPr lang="en-US" sz="1150" b="1" dirty="0">
                <a:solidFill>
                  <a:srgbClr val="1E3C36"/>
                </a:solidFill>
                <a:latin typeface="Arial" pitchFamily="34" charset="0"/>
                <a:ea typeface="Arial" pitchFamily="34" charset="-122"/>
                <a:cs typeface="Arial" pitchFamily="34" charset="-120"/>
              </a:rPr>
              <a:t>7 – 9 months</a:t>
            </a:r>
            <a:endParaRPr lang="en-US" sz="1150" dirty="0"/>
          </a:p>
        </p:txBody>
      </p:sp>
      <p:sp>
        <p:nvSpPr>
          <p:cNvPr id="18" name="Shape 15"/>
          <p:cNvSpPr/>
          <p:nvPr/>
        </p:nvSpPr>
        <p:spPr>
          <a:xfrm>
            <a:off x="4956048" y="1389888"/>
            <a:ext cx="3621024" cy="1920240"/>
          </a:xfrm>
          <a:prstGeom prst="roundRect">
            <a:avLst>
              <a:gd name="adj" fmla="val 2857"/>
            </a:avLst>
          </a:prstGeom>
          <a:solidFill>
            <a:srgbClr val="F5F7F6"/>
          </a:solidFill>
          <a:ln w="12700">
            <a:solidFill>
              <a:srgbClr val="F5F7F6"/>
            </a:solidFill>
            <a:prstDash val="solid"/>
          </a:ln>
        </p:spPr>
      </p:sp>
      <p:sp>
        <p:nvSpPr>
          <p:cNvPr id="19" name="Text 16"/>
          <p:cNvSpPr/>
          <p:nvPr/>
        </p:nvSpPr>
        <p:spPr>
          <a:xfrm>
            <a:off x="5157216" y="1517904"/>
            <a:ext cx="3108960" cy="256032"/>
          </a:xfrm>
          <a:prstGeom prst="rect">
            <a:avLst/>
          </a:prstGeom>
          <a:noFill/>
          <a:ln/>
        </p:spPr>
        <p:txBody>
          <a:bodyPr wrap="square" lIns="0" tIns="0" rIns="0" bIns="0" rtlCol="0" anchor="ctr"/>
          <a:lstStyle/>
          <a:p>
            <a:pPr indent="0" marL="0">
              <a:buNone/>
            </a:pPr>
            <a:r>
              <a:rPr lang="en-US" sz="1100" b="1" dirty="0">
                <a:solidFill>
                  <a:srgbClr val="1E3C36"/>
                </a:solidFill>
                <a:latin typeface="Arial" pitchFamily="34" charset="0"/>
                <a:ea typeface="Arial" pitchFamily="34" charset="-122"/>
                <a:cs typeface="Arial" pitchFamily="34" charset="-120"/>
              </a:rPr>
              <a:t>How it exits — an estimated 7 to 9 months.</a:t>
            </a:r>
            <a:endParaRPr lang="en-US" sz="1100" dirty="0"/>
          </a:p>
        </p:txBody>
      </p:sp>
      <p:sp>
        <p:nvSpPr>
          <p:cNvPr id="20" name="Text 17"/>
          <p:cNvSpPr/>
          <p:nvPr/>
        </p:nvSpPr>
        <p:spPr>
          <a:xfrm>
            <a:off x="5157216" y="1792224"/>
            <a:ext cx="3108960" cy="566928"/>
          </a:xfrm>
          <a:prstGeom prst="rect">
            <a:avLst/>
          </a:prstGeom>
          <a:noFill/>
          <a:ln/>
        </p:spPr>
        <p:txBody>
          <a:bodyPr wrap="square" lIns="0" tIns="0" rIns="0" bIns="0" rtlCol="0" anchor="ctr"/>
          <a:lstStyle/>
          <a:p>
            <a:pPr indent="0" marL="0">
              <a:buNone/>
            </a:pPr>
            <a:r>
              <a:rPr lang="en-US" sz="1050" dirty="0">
                <a:solidFill>
                  <a:srgbClr val="2E3B38"/>
                </a:solidFill>
                <a:latin typeface="Georgia" pitchFamily="34" charset="0"/>
                <a:ea typeface="Georgia" pitchFamily="34" charset="-122"/>
                <a:cs typeface="Georgia" pitchFamily="34" charset="-120"/>
              </a:rPr>
              <a:t>The borrower's $256,000 first-lien note is assigned to you. You are paid in full: your $140,800 plus $6,864 interest.</a:t>
            </a:r>
            <a:endParaRPr lang="en-US" sz="1050" dirty="0"/>
          </a:p>
        </p:txBody>
      </p:sp>
      <p:sp>
        <p:nvSpPr>
          <p:cNvPr id="21" name="Text 18"/>
          <p:cNvSpPr/>
          <p:nvPr/>
        </p:nvSpPr>
        <p:spPr>
          <a:xfrm>
            <a:off x="5157216" y="2395728"/>
            <a:ext cx="3108960" cy="329184"/>
          </a:xfrm>
          <a:prstGeom prst="rect">
            <a:avLst/>
          </a:prstGeom>
          <a:noFill/>
          <a:ln/>
        </p:spPr>
        <p:txBody>
          <a:bodyPr wrap="square" lIns="0" tIns="0" rIns="0" bIns="0" rtlCol="0" anchor="ctr"/>
          <a:lstStyle/>
          <a:p>
            <a:pPr indent="0" marL="0">
              <a:buNone/>
            </a:pPr>
            <a:r>
              <a:rPr lang="en-US" sz="1700" b="1" dirty="0">
                <a:solidFill>
                  <a:srgbClr val="C89430"/>
                </a:solidFill>
                <a:latin typeface="Georgia" pitchFamily="34" charset="0"/>
                <a:ea typeface="Georgia" pitchFamily="34" charset="-122"/>
                <a:cs typeface="Georgia" pitchFamily="34" charset="-120"/>
              </a:rPr>
              <a:t>$147,664 total</a:t>
            </a:r>
            <a:endParaRPr lang="en-US" sz="1700" dirty="0"/>
          </a:p>
        </p:txBody>
      </p:sp>
      <p:sp>
        <p:nvSpPr>
          <p:cNvPr id="22" name="Text 19"/>
          <p:cNvSpPr/>
          <p:nvPr/>
        </p:nvSpPr>
        <p:spPr>
          <a:xfrm>
            <a:off x="5157216" y="2761488"/>
            <a:ext cx="3108960" cy="438912"/>
          </a:xfrm>
          <a:prstGeom prst="rect">
            <a:avLst/>
          </a:prstGeom>
          <a:noFill/>
          <a:ln/>
        </p:spPr>
        <p:txBody>
          <a:bodyPr wrap="square" lIns="0" tIns="0" rIns="0" bIns="0" rtlCol="0" anchor="ctr"/>
          <a:lstStyle/>
          <a:p>
            <a:pPr indent="0" marL="0">
              <a:buNone/>
            </a:pPr>
            <a:r>
              <a:rPr lang="en-US" sz="850" i="1" dirty="0">
                <a:solidFill>
                  <a:srgbClr val="6B7A75"/>
                </a:solidFill>
                <a:latin typeface="Georgia" pitchFamily="34" charset="0"/>
                <a:ea typeface="Georgia" pitchFamily="34" charset="-122"/>
                <a:cs typeface="Georgia" pitchFamily="34" charset="-120"/>
              </a:rPr>
              <a:t>Payable anytime, no penalty — principal back whenever the loan pays off; you keep interest through that date.</a:t>
            </a:r>
            <a:endParaRPr lang="en-US" sz="850" dirty="0"/>
          </a:p>
        </p:txBody>
      </p:sp>
      <p:sp>
        <p:nvSpPr>
          <p:cNvPr id="23" name="Shape 20"/>
          <p:cNvSpPr/>
          <p:nvPr/>
        </p:nvSpPr>
        <p:spPr>
          <a:xfrm>
            <a:off x="566928" y="3749040"/>
            <a:ext cx="8010144" cy="621792"/>
          </a:xfrm>
          <a:prstGeom prst="roundRect">
            <a:avLst>
              <a:gd name="adj" fmla="val 8824"/>
            </a:avLst>
          </a:prstGeom>
          <a:solidFill>
            <a:srgbClr val="FAF6EC"/>
          </a:solidFill>
          <a:ln w="12700">
            <a:solidFill>
              <a:srgbClr val="E8DEC6"/>
            </a:solidFill>
            <a:prstDash val="solid"/>
          </a:ln>
        </p:spPr>
      </p:sp>
      <p:sp>
        <p:nvSpPr>
          <p:cNvPr id="24" name="Text 21"/>
          <p:cNvSpPr/>
          <p:nvPr/>
        </p:nvSpPr>
        <p:spPr>
          <a:xfrm>
            <a:off x="768096" y="3749040"/>
            <a:ext cx="7607808" cy="621792"/>
          </a:xfrm>
          <a:prstGeom prst="rect">
            <a:avLst/>
          </a:prstGeom>
          <a:noFill/>
          <a:ln/>
        </p:spPr>
        <p:txBody>
          <a:bodyPr wrap="square" lIns="0" tIns="0" rIns="0" bIns="0" rtlCol="0" anchor="ctr"/>
          <a:lstStyle/>
          <a:p>
            <a:pPr indent="0" marL="0">
              <a:buNone/>
            </a:pPr>
            <a:r>
              <a:rPr lang="en-US" sz="1050" b="1" dirty="0">
                <a:solidFill>
                  <a:srgbClr val="1E3C36"/>
                </a:solidFill>
                <a:latin typeface="Georgia" pitchFamily="34" charset="0"/>
                <a:ea typeface="Georgia" pitchFamily="34" charset="-122"/>
                <a:cs typeface="Georgia" pitchFamily="34" charset="-120"/>
              </a:rPr>
              <a:t>How the loan amount is set</a:t>
            </a:r>
            <a:endParaRPr lang="en-US" sz="1050" dirty="0"/>
          </a:p>
          <a:p>
            <a:pPr indent="0" marL="0">
              <a:buNone/>
            </a:pPr>
            <a:r>
              <a:rPr lang="en-US" sz="1050" dirty="0">
                <a:solidFill>
                  <a:srgbClr val="2E3B38"/>
                </a:solidFill>
                <a:latin typeface="Georgia" pitchFamily="34" charset="0"/>
                <a:ea typeface="Georgia" pitchFamily="34" charset="-122"/>
                <a:cs typeface="Georgia" pitchFamily="34" charset="-120"/>
              </a:rPr>
              <a:t>80% of the after-repair value.   0.80  ×  $320,000  =  $256,000.   One number, no second formula.</a:t>
            </a:r>
            <a:endParaRPr lang="en-US" sz="1050" dirty="0"/>
          </a:p>
        </p:txBody>
      </p:sp>
      <p:sp>
        <p:nvSpPr>
          <p:cNvPr id="25" name="Text 22"/>
          <p:cNvSpPr/>
          <p:nvPr/>
        </p:nvSpPr>
        <p:spPr>
          <a:xfrm>
            <a:off x="566928" y="4759452"/>
            <a:ext cx="8010144" cy="201168"/>
          </a:xfrm>
          <a:prstGeom prst="rect">
            <a:avLst/>
          </a:prstGeom>
          <a:noFill/>
          <a:ln/>
        </p:spPr>
        <p:txBody>
          <a:bodyPr wrap="square" lIns="0" tIns="0" rIns="0" bIns="0" rtlCol="0" anchor="ctr"/>
          <a:lstStyle/>
          <a:p>
            <a:pPr indent="0" marL="0">
              <a:buNone/>
            </a:pPr>
            <a:r>
              <a:rPr lang="en-US" sz="750" i="1" dirty="0">
                <a:solidFill>
                  <a:srgbClr val="6B7A75"/>
                </a:solidFill>
                <a:latin typeface="Georgia" pitchFamily="34" charset="0"/>
                <a:ea typeface="Georgia" pitchFamily="34" charset="-122"/>
                <a:cs typeface="Georgia" pitchFamily="34" charset="-120"/>
              </a:rPr>
              <a:t>Illustrative example based on representative terms. Secured, not guaranteed. Not an offer to sell securities.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8010144" cy="219456"/>
          </a:xfrm>
          <a:prstGeom prst="rect">
            <a:avLst/>
          </a:prstGeom>
          <a:noFill/>
          <a:ln/>
        </p:spPr>
        <p:txBody>
          <a:bodyPr wrap="square" lIns="0" tIns="0" rIns="0" bIns="0" rtlCol="0" anchor="ctr"/>
          <a:lstStyle/>
          <a:p>
            <a:pPr indent="0" marL="0">
              <a:buNone/>
            </a:pPr>
            <a:r>
              <a:rPr lang="en-US" sz="900" b="1" spc="200" kern="0" dirty="0">
                <a:solidFill>
                  <a:srgbClr val="C89430"/>
                </a:solidFill>
                <a:latin typeface="Arial" pitchFamily="34" charset="0"/>
                <a:ea typeface="Arial" pitchFamily="34" charset="-122"/>
                <a:cs typeface="Arial" pitchFamily="34" charset="-120"/>
              </a:rPr>
              <a:t>WHERE THE MONEY COMES FROM</a:t>
            </a:r>
            <a:endParaRPr lang="en-US" sz="900" dirty="0"/>
          </a:p>
        </p:txBody>
      </p:sp>
      <p:sp>
        <p:nvSpPr>
          <p:cNvPr id="3" name="Text 1"/>
          <p:cNvSpPr/>
          <p:nvPr/>
        </p:nvSpPr>
        <p:spPr>
          <a:xfrm>
            <a:off x="566928" y="603504"/>
            <a:ext cx="8010144" cy="566928"/>
          </a:xfrm>
          <a:prstGeom prst="rect">
            <a:avLst/>
          </a:prstGeom>
          <a:noFill/>
          <a:ln/>
        </p:spPr>
        <p:txBody>
          <a:bodyPr wrap="square" lIns="0" tIns="0" rIns="0" bIns="0" rtlCol="0" anchor="ctr"/>
          <a:lstStyle/>
          <a:p>
            <a:pPr indent="0" marL="0">
              <a:buNone/>
            </a:pPr>
            <a:r>
              <a:rPr lang="en-US" sz="3300" b="1" dirty="0">
                <a:solidFill>
                  <a:srgbClr val="1E3C36"/>
                </a:solidFill>
                <a:latin typeface="Georgia" pitchFamily="34" charset="0"/>
                <a:ea typeface="Georgia" pitchFamily="34" charset="-122"/>
                <a:cs typeface="Georgia" pitchFamily="34" charset="-120"/>
              </a:rPr>
              <a:t>The Capital Stack</a:t>
            </a:r>
            <a:endParaRPr lang="en-US" sz="3300" dirty="0"/>
          </a:p>
        </p:txBody>
      </p:sp>
      <p:sp>
        <p:nvSpPr>
          <p:cNvPr id="4" name="Text 2"/>
          <p:cNvSpPr/>
          <p:nvPr/>
        </p:nvSpPr>
        <p:spPr>
          <a:xfrm>
            <a:off x="566928" y="1188720"/>
            <a:ext cx="8010144" cy="310896"/>
          </a:xfrm>
          <a:prstGeom prst="rect">
            <a:avLst/>
          </a:prstGeom>
          <a:noFill/>
          <a:ln/>
        </p:spPr>
        <p:txBody>
          <a:bodyPr wrap="square" lIns="0" tIns="0" rIns="0" bIns="0" rtlCol="0" anchor="ctr"/>
          <a:lstStyle/>
          <a:p>
            <a:pPr indent="0" marL="0">
              <a:buNone/>
            </a:pPr>
            <a:r>
              <a:rPr lang="en-US" sz="1250" dirty="0">
                <a:solidFill>
                  <a:srgbClr val="6B7A75"/>
                </a:solidFill>
                <a:latin typeface="Georgia" pitchFamily="34" charset="0"/>
                <a:ea typeface="Georgia" pitchFamily="34" charset="-122"/>
                <a:cs typeface="Georgia" pitchFamily="34" charset="-120"/>
              </a:rPr>
              <a:t>The $256,000 loan = you + Lazy Dog.   The borrower's $20,000 is equity beneath.</a:t>
            </a:r>
            <a:endParaRPr lang="en-US" sz="1250" dirty="0"/>
          </a:p>
        </p:txBody>
      </p:sp>
      <p:sp>
        <p:nvSpPr>
          <p:cNvPr id="5" name="Shape 3"/>
          <p:cNvSpPr/>
          <p:nvPr/>
        </p:nvSpPr>
        <p:spPr>
          <a:xfrm>
            <a:off x="566928" y="1773936"/>
            <a:ext cx="4058902" cy="1005840"/>
          </a:xfrm>
          <a:prstGeom prst="rect">
            <a:avLst/>
          </a:prstGeom>
          <a:solidFill>
            <a:srgbClr val="1E3C36"/>
          </a:solidFill>
          <a:ln w="12700">
            <a:solidFill>
              <a:srgbClr val="1E3C36"/>
            </a:solidFill>
            <a:prstDash val="solid"/>
          </a:ln>
        </p:spPr>
      </p:sp>
      <p:sp>
        <p:nvSpPr>
          <p:cNvPr id="6" name="Text 4"/>
          <p:cNvSpPr/>
          <p:nvPr/>
        </p:nvSpPr>
        <p:spPr>
          <a:xfrm>
            <a:off x="566928" y="1773936"/>
            <a:ext cx="4058902" cy="1005840"/>
          </a:xfrm>
          <a:prstGeom prst="rect">
            <a:avLst/>
          </a:prstGeom>
          <a:noFill/>
          <a:ln/>
        </p:spPr>
        <p:txBody>
          <a:bodyPr wrap="square" lIns="0" tIns="0" rIns="0" bIns="0" rtlCol="0" anchor="ctr"/>
          <a:lstStyle/>
          <a:p>
            <a:pPr algn="ctr" indent="0" marL="0">
              <a:buNone/>
            </a:pPr>
            <a:r>
              <a:rPr lang="en-US" sz="1200" b="1" dirty="0">
                <a:solidFill>
                  <a:srgbClr val="F0EADE"/>
                </a:solidFill>
                <a:latin typeface="Arial" pitchFamily="34" charset="0"/>
                <a:ea typeface="Arial" pitchFamily="34" charset="-122"/>
                <a:cs typeface="Arial" pitchFamily="34" charset="-120"/>
              </a:rPr>
              <a:t>Capital Partner</a:t>
            </a:r>
            <a:endParaRPr lang="en-US" sz="1200" dirty="0"/>
          </a:p>
          <a:p>
            <a:pPr algn="ctr" indent="0" marL="0">
              <a:buNone/>
            </a:pPr>
            <a:r>
              <a:rPr lang="en-US" sz="900" dirty="0">
                <a:solidFill>
                  <a:srgbClr val="F0EADE"/>
                </a:solidFill>
                <a:latin typeface="Arial" pitchFamily="34" charset="0"/>
                <a:ea typeface="Arial" pitchFamily="34" charset="-122"/>
                <a:cs typeface="Arial" pitchFamily="34" charset="-120"/>
              </a:rPr>
              <a:t>paid first  ·  $140,800  ·  6.5%</a:t>
            </a:r>
            <a:endParaRPr lang="en-US" sz="1200" dirty="0"/>
          </a:p>
        </p:txBody>
      </p:sp>
      <p:sp>
        <p:nvSpPr>
          <p:cNvPr id="7" name="Shape 5"/>
          <p:cNvSpPr/>
          <p:nvPr/>
        </p:nvSpPr>
        <p:spPr>
          <a:xfrm>
            <a:off x="4653262" y="1773936"/>
            <a:ext cx="3315932" cy="1005840"/>
          </a:xfrm>
          <a:prstGeom prst="rect">
            <a:avLst/>
          </a:prstGeom>
          <a:solidFill>
            <a:srgbClr val="C89430"/>
          </a:solidFill>
          <a:ln w="12700">
            <a:solidFill>
              <a:srgbClr val="C89430"/>
            </a:solidFill>
            <a:prstDash val="solid"/>
          </a:ln>
        </p:spPr>
      </p:sp>
      <p:sp>
        <p:nvSpPr>
          <p:cNvPr id="8" name="Text 6"/>
          <p:cNvSpPr/>
          <p:nvPr/>
        </p:nvSpPr>
        <p:spPr>
          <a:xfrm>
            <a:off x="4653262" y="1773936"/>
            <a:ext cx="3315932" cy="10058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Lazy Dog</a:t>
            </a:r>
            <a:endParaRPr lang="en-US" sz="1200" dirty="0"/>
          </a:p>
          <a:p>
            <a:pPr algn="ctr" indent="0" marL="0">
              <a:buNone/>
            </a:pPr>
            <a:r>
              <a:rPr lang="en-US" sz="900" dirty="0">
                <a:solidFill>
                  <a:srgbClr val="FFFFFF"/>
                </a:solidFill>
                <a:latin typeface="Arial" pitchFamily="34" charset="0"/>
                <a:ea typeface="Arial" pitchFamily="34" charset="-122"/>
                <a:cs typeface="Arial" pitchFamily="34" charset="-120"/>
              </a:rPr>
              <a:t>paid next  ·  $115,200</a:t>
            </a:r>
            <a:endParaRPr lang="en-US" sz="1200" dirty="0"/>
          </a:p>
        </p:txBody>
      </p:sp>
      <p:sp>
        <p:nvSpPr>
          <p:cNvPr id="9" name="Shape 7"/>
          <p:cNvSpPr/>
          <p:nvPr/>
        </p:nvSpPr>
        <p:spPr>
          <a:xfrm>
            <a:off x="7996627" y="1773936"/>
            <a:ext cx="553013" cy="1005840"/>
          </a:xfrm>
          <a:prstGeom prst="rect">
            <a:avLst/>
          </a:prstGeom>
          <a:solidFill>
            <a:srgbClr val="E3D3A8"/>
          </a:solidFill>
          <a:ln w="12700">
            <a:solidFill>
              <a:srgbClr val="E3D3A8"/>
            </a:solidFill>
            <a:prstDash val="solid"/>
          </a:ln>
        </p:spPr>
      </p:sp>
      <p:sp>
        <p:nvSpPr>
          <p:cNvPr id="10" name="Text 8"/>
          <p:cNvSpPr/>
          <p:nvPr/>
        </p:nvSpPr>
        <p:spPr>
          <a:xfrm>
            <a:off x="7996627" y="1773936"/>
            <a:ext cx="553013" cy="1005840"/>
          </a:xfrm>
          <a:prstGeom prst="rect">
            <a:avLst/>
          </a:prstGeom>
          <a:noFill/>
          <a:ln/>
        </p:spPr>
        <p:txBody>
          <a:bodyPr wrap="square" lIns="0" tIns="0" rIns="0" bIns="0" rtlCol="0" anchor="ctr"/>
          <a:lstStyle/>
          <a:p>
            <a:pPr algn="ctr" indent="0" marL="0">
              <a:buNone/>
            </a:pPr>
            <a:r>
              <a:rPr lang="en-US" sz="850" b="1" dirty="0">
                <a:solidFill>
                  <a:srgbClr val="1E3C36"/>
                </a:solidFill>
                <a:latin typeface="Arial" pitchFamily="34" charset="0"/>
                <a:ea typeface="Arial" pitchFamily="34" charset="-122"/>
                <a:cs typeface="Arial" pitchFamily="34" charset="-120"/>
              </a:rPr>
              <a:t>Borrower</a:t>
            </a:r>
            <a:endParaRPr lang="en-US" sz="850" dirty="0"/>
          </a:p>
          <a:p>
            <a:pPr algn="ctr" indent="0" marL="0">
              <a:buNone/>
            </a:pPr>
            <a:r>
              <a:rPr lang="en-US" sz="650" dirty="0">
                <a:solidFill>
                  <a:srgbClr val="1E3C36"/>
                </a:solidFill>
                <a:latin typeface="Arial" pitchFamily="34" charset="0"/>
                <a:ea typeface="Arial" pitchFamily="34" charset="-122"/>
                <a:cs typeface="Arial" pitchFamily="34" charset="-120"/>
              </a:rPr>
              <a:t>$20,000</a:t>
            </a:r>
            <a:endParaRPr lang="en-US" sz="850" dirty="0"/>
          </a:p>
        </p:txBody>
      </p:sp>
      <p:sp>
        <p:nvSpPr>
          <p:cNvPr id="11" name="Text 9"/>
          <p:cNvSpPr/>
          <p:nvPr/>
        </p:nvSpPr>
        <p:spPr>
          <a:xfrm>
            <a:off x="566928" y="2834640"/>
            <a:ext cx="1828800" cy="219456"/>
          </a:xfrm>
          <a:prstGeom prst="rect">
            <a:avLst/>
          </a:prstGeom>
          <a:noFill/>
          <a:ln/>
        </p:spPr>
        <p:txBody>
          <a:bodyPr wrap="square" lIns="0" tIns="0" rIns="0" bIns="0" rtlCol="0" anchor="ctr"/>
          <a:lstStyle/>
          <a:p>
            <a:pPr indent="0" marL="0">
              <a:buNone/>
            </a:pPr>
            <a:r>
              <a:rPr lang="en-US" sz="850" b="1" spc="160" kern="0" dirty="0">
                <a:solidFill>
                  <a:srgbClr val="1E3C36"/>
                </a:solidFill>
                <a:latin typeface="Arial" pitchFamily="34" charset="0"/>
                <a:ea typeface="Arial" pitchFamily="34" charset="-122"/>
                <a:cs typeface="Arial" pitchFamily="34" charset="-120"/>
              </a:rPr>
              <a:t>PAID FIRST</a:t>
            </a:r>
            <a:endParaRPr lang="en-US" sz="850" dirty="0"/>
          </a:p>
        </p:txBody>
      </p:sp>
      <p:sp>
        <p:nvSpPr>
          <p:cNvPr id="12" name="Text 10"/>
          <p:cNvSpPr/>
          <p:nvPr/>
        </p:nvSpPr>
        <p:spPr>
          <a:xfrm>
            <a:off x="6748272" y="2834640"/>
            <a:ext cx="1828800" cy="219456"/>
          </a:xfrm>
          <a:prstGeom prst="rect">
            <a:avLst/>
          </a:prstGeom>
          <a:noFill/>
          <a:ln/>
        </p:spPr>
        <p:txBody>
          <a:bodyPr wrap="square" lIns="0" tIns="0" rIns="0" bIns="0" rtlCol="0" anchor="ctr"/>
          <a:lstStyle/>
          <a:p>
            <a:pPr algn="r" indent="0" marL="0">
              <a:buNone/>
            </a:pPr>
            <a:r>
              <a:rPr lang="en-US" sz="850" b="1" spc="160" kern="0" dirty="0">
                <a:solidFill>
                  <a:srgbClr val="C89430"/>
                </a:solidFill>
                <a:latin typeface="Arial" pitchFamily="34" charset="0"/>
                <a:ea typeface="Arial" pitchFamily="34" charset="-122"/>
                <a:cs typeface="Arial" pitchFamily="34" charset="-120"/>
              </a:rPr>
              <a:t>PAID LAST</a:t>
            </a:r>
            <a:endParaRPr lang="en-US" sz="850" dirty="0"/>
          </a:p>
        </p:txBody>
      </p:sp>
      <p:sp>
        <p:nvSpPr>
          <p:cNvPr id="13" name="Text 11"/>
          <p:cNvSpPr/>
          <p:nvPr/>
        </p:nvSpPr>
        <p:spPr>
          <a:xfrm>
            <a:off x="566928" y="3145536"/>
            <a:ext cx="8010144" cy="274320"/>
          </a:xfrm>
          <a:prstGeom prst="rect">
            <a:avLst/>
          </a:prstGeom>
          <a:noFill/>
          <a:ln/>
        </p:spPr>
        <p:txBody>
          <a:bodyPr wrap="square" lIns="0" tIns="0" rIns="0" bIns="0" rtlCol="0" anchor="ctr"/>
          <a:lstStyle/>
          <a:p>
            <a:pPr algn="ctr" indent="0" marL="0">
              <a:buNone/>
            </a:pPr>
            <a:r>
              <a:rPr lang="en-US" sz="1100" dirty="0">
                <a:solidFill>
                  <a:srgbClr val="2E3B38"/>
                </a:solidFill>
                <a:latin typeface="Georgia" pitchFamily="34" charset="0"/>
                <a:ea typeface="Georgia" pitchFamily="34" charset="-122"/>
                <a:cs typeface="Georgia" pitchFamily="34" charset="-120"/>
              </a:rPr>
              <a:t>You and Lazy Dog fund the $256,000 loan; the borrower's $20,000 down payment is equity beneath it — the first money to absorb any loss.</a:t>
            </a:r>
            <a:endParaRPr lang="en-US" sz="1100" dirty="0"/>
          </a:p>
        </p:txBody>
      </p:sp>
      <p:sp>
        <p:nvSpPr>
          <p:cNvPr id="14" name="Shape 12"/>
          <p:cNvSpPr/>
          <p:nvPr/>
        </p:nvSpPr>
        <p:spPr>
          <a:xfrm>
            <a:off x="566928" y="3968496"/>
            <a:ext cx="8010144" cy="621792"/>
          </a:xfrm>
          <a:prstGeom prst="roundRect">
            <a:avLst>
              <a:gd name="adj" fmla="val 8824"/>
            </a:avLst>
          </a:prstGeom>
          <a:solidFill>
            <a:srgbClr val="1E3C36"/>
          </a:solidFill>
          <a:ln w="12700">
            <a:solidFill>
              <a:srgbClr val="1E3C36"/>
            </a:solidFill>
            <a:prstDash val="solid"/>
          </a:ln>
        </p:spPr>
      </p:sp>
      <p:sp>
        <p:nvSpPr>
          <p:cNvPr id="15" name="Text 13"/>
          <p:cNvSpPr/>
          <p:nvPr/>
        </p:nvSpPr>
        <p:spPr>
          <a:xfrm>
            <a:off x="768096" y="3968496"/>
            <a:ext cx="7607808" cy="621792"/>
          </a:xfrm>
          <a:prstGeom prst="rect">
            <a:avLst/>
          </a:prstGeom>
          <a:noFill/>
          <a:ln/>
        </p:spPr>
        <p:txBody>
          <a:bodyPr wrap="square" lIns="0" tIns="0" rIns="0" bIns="0" rtlCol="0" anchor="ctr"/>
          <a:lstStyle/>
          <a:p>
            <a:pPr indent="0" marL="0">
              <a:buNone/>
            </a:pPr>
            <a:r>
              <a:rPr lang="en-US" sz="1050" b="1" dirty="0">
                <a:solidFill>
                  <a:srgbClr val="C89430"/>
                </a:solidFill>
                <a:latin typeface="Georgia" pitchFamily="34" charset="0"/>
                <a:ea typeface="Georgia" pitchFamily="34" charset="-122"/>
                <a:cs typeface="Georgia" pitchFamily="34" charset="-120"/>
              </a:rPr>
              <a:t>Repayment order in any payoff or foreclosure:</a:t>
            </a:r>
            <a:endParaRPr lang="en-US" sz="1050" dirty="0"/>
          </a:p>
          <a:p>
            <a:pPr indent="0" marL="0">
              <a:buNone/>
            </a:pPr>
            <a:r>
              <a:rPr lang="en-US" sz="1050" dirty="0">
                <a:solidFill>
                  <a:srgbClr val="F0EADE"/>
                </a:solidFill>
                <a:latin typeface="Georgia" pitchFamily="34" charset="0"/>
                <a:ea typeface="Georgia" pitchFamily="34" charset="-122"/>
                <a:cs typeface="Georgia" pitchFamily="34" charset="-120"/>
              </a:rPr>
              <a:t>costs first, then YOU (by recorded collateral assignment), then Lazy Dog, then the borrower.   You are paid before we are.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8010144" cy="219456"/>
          </a:xfrm>
          <a:prstGeom prst="rect">
            <a:avLst/>
          </a:prstGeom>
          <a:noFill/>
          <a:ln/>
        </p:spPr>
        <p:txBody>
          <a:bodyPr wrap="square" lIns="0" tIns="0" rIns="0" bIns="0" rtlCol="0" anchor="ctr"/>
          <a:lstStyle/>
          <a:p>
            <a:pPr indent="0" marL="0">
              <a:buNone/>
            </a:pPr>
            <a:r>
              <a:rPr lang="en-US" sz="900" b="1" spc="200" kern="0" dirty="0">
                <a:solidFill>
                  <a:srgbClr val="C89430"/>
                </a:solidFill>
                <a:latin typeface="Arial" pitchFamily="34" charset="0"/>
                <a:ea typeface="Arial" pitchFamily="34" charset="-122"/>
                <a:cs typeface="Arial" pitchFamily="34" charset="-120"/>
              </a:rPr>
              <a:t>5.5% – 7.0% ANNUALIZED, PAID MONTHLY</a:t>
            </a:r>
            <a:endParaRPr lang="en-US" sz="900" dirty="0"/>
          </a:p>
        </p:txBody>
      </p:sp>
      <p:sp>
        <p:nvSpPr>
          <p:cNvPr id="3" name="Text 1"/>
          <p:cNvSpPr/>
          <p:nvPr/>
        </p:nvSpPr>
        <p:spPr>
          <a:xfrm>
            <a:off x="566928" y="603504"/>
            <a:ext cx="8010144" cy="566928"/>
          </a:xfrm>
          <a:prstGeom prst="rect">
            <a:avLst/>
          </a:prstGeom>
          <a:noFill/>
          <a:ln/>
        </p:spPr>
        <p:txBody>
          <a:bodyPr wrap="square" lIns="0" tIns="0" rIns="0" bIns="0" rtlCol="0" anchor="ctr"/>
          <a:lstStyle/>
          <a:p>
            <a:pPr indent="0" marL="0">
              <a:buNone/>
            </a:pPr>
            <a:r>
              <a:rPr lang="en-US" sz="3300" b="1" dirty="0">
                <a:solidFill>
                  <a:srgbClr val="1E3C36"/>
                </a:solidFill>
                <a:latin typeface="Georgia" pitchFamily="34" charset="0"/>
                <a:ea typeface="Georgia" pitchFamily="34" charset="-122"/>
                <a:cs typeface="Georgia" pitchFamily="34" charset="-120"/>
              </a:rPr>
              <a:t>Your Return</a:t>
            </a:r>
            <a:endParaRPr lang="en-US" sz="3300" dirty="0"/>
          </a:p>
        </p:txBody>
      </p:sp>
      <p:sp>
        <p:nvSpPr>
          <p:cNvPr id="4" name="Text 2"/>
          <p:cNvSpPr/>
          <p:nvPr/>
        </p:nvSpPr>
        <p:spPr>
          <a:xfrm>
            <a:off x="566928" y="1188720"/>
            <a:ext cx="8010144" cy="310896"/>
          </a:xfrm>
          <a:prstGeom prst="rect">
            <a:avLst/>
          </a:prstGeom>
          <a:noFill/>
          <a:ln/>
        </p:spPr>
        <p:txBody>
          <a:bodyPr wrap="square" lIns="0" tIns="0" rIns="0" bIns="0" rtlCol="0" anchor="ctr"/>
          <a:lstStyle/>
          <a:p>
            <a:pPr indent="0" marL="0">
              <a:buNone/>
            </a:pPr>
            <a:r>
              <a:rPr lang="en-US" sz="1250" dirty="0">
                <a:solidFill>
                  <a:srgbClr val="6B7A75"/>
                </a:solidFill>
                <a:latin typeface="Georgia" pitchFamily="34" charset="0"/>
                <a:ea typeface="Georgia" pitchFamily="34" charset="-122"/>
                <a:cs typeface="Georgia" pitchFamily="34" charset="-120"/>
              </a:rPr>
              <a:t>Your rate is set by your share of the loan.</a:t>
            </a:r>
            <a:endParaRPr lang="en-US" sz="1250" dirty="0"/>
          </a:p>
        </p:txBody>
      </p:sp>
      <p:pic>
        <p:nvPicPr>
          <p:cNvPr id="5" name="Image 0" descr="preencoded.png">    </p:cNvPr>
          <p:cNvPicPr>
            <a:picLocks noChangeAspect="1"/>
          </p:cNvPicPr>
          <p:nvPr/>
        </p:nvPicPr>
        <p:blipFill>
          <a:blip r:embed="rId1"/>
          <a:stretch>
            <a:fillRect/>
          </a:stretch>
        </p:blipFill>
        <p:spPr>
          <a:xfrm>
            <a:off x="8266176" y="329184"/>
            <a:ext cx="274320" cy="310896"/>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8010144" cy="914400"/>
        </p:xfrm>
        <a:graphic>
          <a:graphicData uri="http://schemas.openxmlformats.org/drawingml/2006/table">
            <a:tbl>
              <a:tblPr/>
              <a:tblGrid>
                <a:gridCol w="1627632"/>
                <a:gridCol w="1225296"/>
                <a:gridCol w="1097280"/>
                <a:gridCol w="1097280"/>
                <a:gridCol w="1536192"/>
                <a:gridCol w="1426464"/>
              </a:tblGrid>
              <a:tr h="347472">
                <a:tc>
                  <a:txBody>
                    <a:bodyPr/>
                    <a:lstStyle/>
                    <a:p>
                      <a:pPr indent="0" marL="0">
                        <a:buNone/>
                      </a:pPr>
                      <a:r>
                        <a:rPr lang="en-US" sz="850" b="1" spc="120" kern="0" dirty="0">
                          <a:solidFill>
                            <a:srgbClr val="F0EADE"/>
                          </a:solidFill>
                          <a:latin typeface="Arial" pitchFamily="34" charset="0"/>
                          <a:ea typeface="Arial" pitchFamily="34" charset="-122"/>
                          <a:cs typeface="Arial" pitchFamily="34" charset="-120"/>
                        </a:rPr>
                        <a:t>YOUR SHARE</a:t>
                      </a:r>
                      <a:endParaRPr lang="en-US" sz="8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1E3C36"/>
                    </a:solidFill>
                  </a:tcPr>
                </a:tc>
                <a:tc>
                  <a:txBody>
                    <a:bodyPr/>
                    <a:lstStyle/>
                    <a:p>
                      <a:pPr indent="0" marL="0">
                        <a:buNone/>
                      </a:pPr>
                      <a:r>
                        <a:rPr lang="en-US" sz="850" b="1" spc="120" kern="0" dirty="0">
                          <a:solidFill>
                            <a:srgbClr val="F0EADE"/>
                          </a:solidFill>
                          <a:latin typeface="Arial" pitchFamily="34" charset="0"/>
                          <a:ea typeface="Arial" pitchFamily="34" charset="-122"/>
                          <a:cs typeface="Arial" pitchFamily="34" charset="-120"/>
                        </a:rPr>
                        <a:t>YOU FUND</a:t>
                      </a:r>
                      <a:endParaRPr lang="en-US" sz="8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1E3C36"/>
                    </a:solidFill>
                  </a:tcPr>
                </a:tc>
                <a:tc>
                  <a:txBody>
                    <a:bodyPr/>
                    <a:lstStyle/>
                    <a:p>
                      <a:pPr indent="0" marL="0">
                        <a:buNone/>
                      </a:pPr>
                      <a:r>
                        <a:rPr lang="en-US" sz="850" b="1" spc="120" kern="0" dirty="0">
                          <a:solidFill>
                            <a:srgbClr val="F0EADE"/>
                          </a:solidFill>
                          <a:latin typeface="Arial" pitchFamily="34" charset="0"/>
                          <a:ea typeface="Arial" pitchFamily="34" charset="-122"/>
                          <a:cs typeface="Arial" pitchFamily="34" charset="-120"/>
                        </a:rPr>
                        <a:t>YOUR RATE</a:t>
                      </a:r>
                      <a:endParaRPr lang="en-US" sz="8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1E3C36"/>
                    </a:solidFill>
                  </a:tcPr>
                </a:tc>
                <a:tc>
                  <a:txBody>
                    <a:bodyPr/>
                    <a:lstStyle/>
                    <a:p>
                      <a:pPr indent="0" marL="0">
                        <a:buNone/>
                      </a:pPr>
                      <a:r>
                        <a:rPr lang="en-US" sz="850" b="1" spc="120" kern="0" dirty="0">
                          <a:solidFill>
                            <a:srgbClr val="F0EADE"/>
                          </a:solidFill>
                          <a:latin typeface="Arial" pitchFamily="34" charset="0"/>
                          <a:ea typeface="Arial" pitchFamily="34" charset="-122"/>
                          <a:cs typeface="Arial" pitchFamily="34" charset="-120"/>
                        </a:rPr>
                        <a:t>MONTHLY</a:t>
                      </a:r>
                      <a:endParaRPr lang="en-US" sz="8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1E3C36"/>
                    </a:solidFill>
                  </a:tcPr>
                </a:tc>
                <a:tc>
                  <a:txBody>
                    <a:bodyPr/>
                    <a:lstStyle/>
                    <a:p>
                      <a:pPr indent="0" marL="0">
                        <a:buNone/>
                      </a:pPr>
                      <a:r>
                        <a:rPr lang="en-US" sz="850" b="1" spc="120" kern="0" dirty="0">
                          <a:solidFill>
                            <a:srgbClr val="F0EADE"/>
                          </a:solidFill>
                          <a:latin typeface="Arial" pitchFamily="34" charset="0"/>
                          <a:ea typeface="Arial" pitchFamily="34" charset="-122"/>
                          <a:cs typeface="Arial" pitchFamily="34" charset="-120"/>
                        </a:rPr>
                        <a:t>OVER 9 MONTHS</a:t>
                      </a:r>
                      <a:endParaRPr lang="en-US" sz="8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1E3C36"/>
                    </a:solidFill>
                  </a:tcPr>
                </a:tc>
                <a:tc>
                  <a:txBody>
                    <a:bodyPr/>
                    <a:lstStyle/>
                    <a:p>
                      <a:pPr indent="0" marL="0">
                        <a:buNone/>
                      </a:pPr>
                      <a:r>
                        <a:rPr lang="en-US" sz="850" b="1" spc="120" kern="0" dirty="0">
                          <a:solidFill>
                            <a:srgbClr val="F0EADE"/>
                          </a:solidFill>
                          <a:latin typeface="Arial" pitchFamily="34" charset="0"/>
                          <a:ea typeface="Arial" pitchFamily="34" charset="-122"/>
                          <a:cs typeface="Arial" pitchFamily="34" charset="-120"/>
                        </a:rPr>
                        <a:t>TOTAL RETURNED</a:t>
                      </a:r>
                      <a:endParaRPr lang="en-US" sz="8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1E3C36"/>
                    </a:solidFill>
                  </a:tcPr>
                </a:tc>
              </a:tr>
              <a:tr h="347472">
                <a:tc>
                  <a:txBody>
                    <a:bodyPr/>
                    <a:lstStyle/>
                    <a:p>
                      <a:pPr indent="0" marL="0">
                        <a:buNone/>
                      </a:pPr>
                      <a:r>
                        <a:rPr lang="en-US" sz="1050" dirty="0">
                          <a:solidFill>
                            <a:srgbClr val="2E3B38"/>
                          </a:solidFill>
                          <a:latin typeface="Arial" pitchFamily="34" charset="0"/>
                          <a:ea typeface="Arial" pitchFamily="34" charset="-122"/>
                          <a:cs typeface="Arial" pitchFamily="34" charset="-120"/>
                        </a:rPr>
                        <a:t>45%</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$115,200</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5.5%</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$528</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$4,752</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$119,952</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r>
              <a:tr h="347472">
                <a:tc>
                  <a:txBody>
                    <a:bodyPr/>
                    <a:lstStyle/>
                    <a:p>
                      <a:pPr indent="0" marL="0">
                        <a:buNone/>
                      </a:pPr>
                      <a:r>
                        <a:rPr lang="en-US" sz="1050" dirty="0">
                          <a:solidFill>
                            <a:srgbClr val="2E3B38"/>
                          </a:solidFill>
                          <a:latin typeface="Arial" pitchFamily="34" charset="0"/>
                          <a:ea typeface="Arial" pitchFamily="34" charset="-122"/>
                          <a:cs typeface="Arial" pitchFamily="34" charset="-120"/>
                        </a:rPr>
                        <a:t>50%</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$128,000</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6.0%</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$640</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$5,760</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$133,760</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E3C36"/>
                          </a:solidFill>
                          <a:latin typeface="Arial" pitchFamily="34" charset="0"/>
                          <a:ea typeface="Arial" pitchFamily="34" charset="-122"/>
                          <a:cs typeface="Arial" pitchFamily="34" charset="-120"/>
                        </a:rPr>
                        <a:t>55%  ·  this deal</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AF6EC"/>
                    </a:solidFill>
                  </a:tcPr>
                </a:tc>
                <a:tc>
                  <a:txBody>
                    <a:bodyPr/>
                    <a:lstStyle/>
                    <a:p>
                      <a:pPr indent="0" marL="0">
                        <a:buNone/>
                      </a:pPr>
                      <a:r>
                        <a:rPr lang="en-US" sz="1050" b="1" dirty="0">
                          <a:solidFill>
                            <a:srgbClr val="1E3C36"/>
                          </a:solidFill>
                          <a:latin typeface="Arial" pitchFamily="34" charset="0"/>
                          <a:ea typeface="Arial" pitchFamily="34" charset="-122"/>
                          <a:cs typeface="Arial" pitchFamily="34" charset="-120"/>
                        </a:rPr>
                        <a:t>$140,800</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AF6EC"/>
                    </a:solidFill>
                  </a:tcPr>
                </a:tc>
                <a:tc>
                  <a:txBody>
                    <a:bodyPr/>
                    <a:lstStyle/>
                    <a:p>
                      <a:pPr indent="0" marL="0">
                        <a:buNone/>
                      </a:pPr>
                      <a:r>
                        <a:rPr lang="en-US" sz="1050" b="1" dirty="0">
                          <a:solidFill>
                            <a:srgbClr val="1E3C36"/>
                          </a:solidFill>
                          <a:latin typeface="Arial" pitchFamily="34" charset="0"/>
                          <a:ea typeface="Arial" pitchFamily="34" charset="-122"/>
                          <a:cs typeface="Arial" pitchFamily="34" charset="-120"/>
                        </a:rPr>
                        <a:t>6.5%</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AF6EC"/>
                    </a:solidFill>
                  </a:tcPr>
                </a:tc>
                <a:tc>
                  <a:txBody>
                    <a:bodyPr/>
                    <a:lstStyle/>
                    <a:p>
                      <a:pPr indent="0" marL="0">
                        <a:buNone/>
                      </a:pPr>
                      <a:r>
                        <a:rPr lang="en-US" sz="1050" b="1" dirty="0">
                          <a:solidFill>
                            <a:srgbClr val="1E3C36"/>
                          </a:solidFill>
                          <a:latin typeface="Arial" pitchFamily="34" charset="0"/>
                          <a:ea typeface="Arial" pitchFamily="34" charset="-122"/>
                          <a:cs typeface="Arial" pitchFamily="34" charset="-120"/>
                        </a:rPr>
                        <a:t>$763</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AF6EC"/>
                    </a:solidFill>
                  </a:tcPr>
                </a:tc>
                <a:tc>
                  <a:txBody>
                    <a:bodyPr/>
                    <a:lstStyle/>
                    <a:p>
                      <a:pPr indent="0" marL="0">
                        <a:buNone/>
                      </a:pPr>
                      <a:r>
                        <a:rPr lang="en-US" sz="1050" b="1" dirty="0">
                          <a:solidFill>
                            <a:srgbClr val="1E3C36"/>
                          </a:solidFill>
                          <a:latin typeface="Arial" pitchFamily="34" charset="0"/>
                          <a:ea typeface="Arial" pitchFamily="34" charset="-122"/>
                          <a:cs typeface="Arial" pitchFamily="34" charset="-120"/>
                        </a:rPr>
                        <a:t>$6,864</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AF6EC"/>
                    </a:solidFill>
                  </a:tcPr>
                </a:tc>
                <a:tc>
                  <a:txBody>
                    <a:bodyPr/>
                    <a:lstStyle/>
                    <a:p>
                      <a:pPr indent="0" marL="0">
                        <a:buNone/>
                      </a:pPr>
                      <a:r>
                        <a:rPr lang="en-US" sz="1050" b="1" dirty="0">
                          <a:solidFill>
                            <a:srgbClr val="1E3C36"/>
                          </a:solidFill>
                          <a:latin typeface="Arial" pitchFamily="34" charset="0"/>
                          <a:ea typeface="Arial" pitchFamily="34" charset="-122"/>
                          <a:cs typeface="Arial" pitchFamily="34" charset="-120"/>
                        </a:rPr>
                        <a:t>$147,664</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AF6EC"/>
                    </a:solidFill>
                  </a:tcPr>
                </a:tc>
              </a:tr>
              <a:tr h="347472">
                <a:tc>
                  <a:txBody>
                    <a:bodyPr/>
                    <a:lstStyle/>
                    <a:p>
                      <a:pPr indent="0" marL="0">
                        <a:buNone/>
                      </a:pPr>
                      <a:r>
                        <a:rPr lang="en-US" sz="1050" dirty="0">
                          <a:solidFill>
                            <a:srgbClr val="2E3B38"/>
                          </a:solidFill>
                          <a:latin typeface="Arial" pitchFamily="34" charset="0"/>
                          <a:ea typeface="Arial" pitchFamily="34" charset="-122"/>
                          <a:cs typeface="Arial" pitchFamily="34" charset="-120"/>
                        </a:rPr>
                        <a:t>60%</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$153,600</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7.0%</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$896</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$8,064</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$161,664</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r>
            </a:tbl>
          </a:graphicData>
        </a:graphic>
      </p:graphicFrame>
      <p:sp>
        <p:nvSpPr>
          <p:cNvPr id="7" name="Text 3"/>
          <p:cNvSpPr/>
          <p:nvPr/>
        </p:nvSpPr>
        <p:spPr>
          <a:xfrm>
            <a:off x="566928" y="3401568"/>
            <a:ext cx="8010144" cy="219456"/>
          </a:xfrm>
          <a:prstGeom prst="rect">
            <a:avLst/>
          </a:prstGeom>
          <a:noFill/>
          <a:ln/>
        </p:spPr>
        <p:txBody>
          <a:bodyPr wrap="square" lIns="0" tIns="0" rIns="0" bIns="0" rtlCol="0" anchor="ctr"/>
          <a:lstStyle/>
          <a:p>
            <a:pPr indent="0" marL="0">
              <a:buNone/>
            </a:pPr>
            <a:r>
              <a:rPr lang="en-US" sz="850" i="1" dirty="0">
                <a:solidFill>
                  <a:srgbClr val="6B7A75"/>
                </a:solidFill>
                <a:latin typeface="Georgia" pitchFamily="34" charset="0"/>
                <a:ea typeface="Georgia" pitchFamily="34" charset="-122"/>
                <a:cs typeface="Georgia" pitchFamily="34" charset="-120"/>
              </a:rPr>
              <a:t>Rates apply to this deal's $256,000 loan. Figures assume a full 9 months; an earlier payoff returns your principal sooner.</a:t>
            </a:r>
            <a:endParaRPr lang="en-US" sz="850" dirty="0"/>
          </a:p>
        </p:txBody>
      </p:sp>
      <p:sp>
        <p:nvSpPr>
          <p:cNvPr id="8" name="Shape 4"/>
          <p:cNvSpPr/>
          <p:nvPr/>
        </p:nvSpPr>
        <p:spPr>
          <a:xfrm>
            <a:off x="566928" y="3803904"/>
            <a:ext cx="8010144" cy="603504"/>
          </a:xfrm>
          <a:prstGeom prst="roundRect">
            <a:avLst>
              <a:gd name="adj" fmla="val 9091"/>
            </a:avLst>
          </a:prstGeom>
          <a:solidFill>
            <a:srgbClr val="F5F7F6"/>
          </a:solidFill>
          <a:ln w="12700">
            <a:solidFill>
              <a:srgbClr val="F5F7F6"/>
            </a:solidFill>
            <a:prstDash val="solid"/>
          </a:ln>
        </p:spPr>
      </p:sp>
      <p:sp>
        <p:nvSpPr>
          <p:cNvPr id="9" name="Text 5"/>
          <p:cNvSpPr/>
          <p:nvPr/>
        </p:nvSpPr>
        <p:spPr>
          <a:xfrm>
            <a:off x="768096" y="3803904"/>
            <a:ext cx="7607808" cy="603504"/>
          </a:xfrm>
          <a:prstGeom prst="rect">
            <a:avLst/>
          </a:prstGeom>
          <a:noFill/>
          <a:ln/>
        </p:spPr>
        <p:txBody>
          <a:bodyPr wrap="square" lIns="0" tIns="0" rIns="0" bIns="0" rtlCol="0" anchor="ctr"/>
          <a:lstStyle/>
          <a:p>
            <a:pPr indent="0" marL="0">
              <a:buNone/>
            </a:pPr>
            <a:r>
              <a:rPr lang="en-US" sz="1050" b="1" dirty="0">
                <a:solidFill>
                  <a:srgbClr val="1E3C36"/>
                </a:solidFill>
                <a:latin typeface="Georgia" pitchFamily="34" charset="0"/>
                <a:ea typeface="Georgia" pitchFamily="34" charset="-122"/>
                <a:cs typeface="Georgia" pitchFamily="34" charset="-120"/>
              </a:rPr>
              <a:t>No fees touch your return. </a:t>
            </a:r>
            <a:pPr indent="0" marL="0">
              <a:buNone/>
            </a:pPr>
            <a:r>
              <a:rPr lang="en-US" sz="1050" dirty="0">
                <a:solidFill>
                  <a:srgbClr val="2E3B38"/>
                </a:solidFill>
                <a:latin typeface="Georgia" pitchFamily="34" charset="0"/>
                <a:ea typeface="Georgia" pitchFamily="34" charset="-122"/>
                <a:cs typeface="Georgia" pitchFamily="34" charset="-120"/>
              </a:rPr>
              <a:t>Lazy Dog is paid by the borrower — origination points, a flat admin fee, and the interest spread. Every dollar of your rate is yours.</a:t>
            </a:r>
            <a:endParaRPr lang="en-US" sz="1050" dirty="0"/>
          </a:p>
        </p:txBody>
      </p:sp>
      <p:sp>
        <p:nvSpPr>
          <p:cNvPr id="10" name="Text 6"/>
          <p:cNvSpPr/>
          <p:nvPr/>
        </p:nvSpPr>
        <p:spPr>
          <a:xfrm>
            <a:off x="566928" y="4759452"/>
            <a:ext cx="8010144" cy="201168"/>
          </a:xfrm>
          <a:prstGeom prst="rect">
            <a:avLst/>
          </a:prstGeom>
          <a:noFill/>
          <a:ln/>
        </p:spPr>
        <p:txBody>
          <a:bodyPr wrap="square" lIns="0" tIns="0" rIns="0" bIns="0" rtlCol="0" anchor="ctr"/>
          <a:lstStyle/>
          <a:p>
            <a:pPr indent="0" marL="0">
              <a:buNone/>
            </a:pPr>
            <a:r>
              <a:rPr lang="en-US" sz="750" i="1" dirty="0">
                <a:solidFill>
                  <a:srgbClr val="6B7A75"/>
                </a:solidFill>
                <a:latin typeface="Georgia" pitchFamily="34" charset="0"/>
                <a:ea typeface="Georgia" pitchFamily="34" charset="-122"/>
                <a:cs typeface="Georgia" pitchFamily="34" charset="-120"/>
              </a:rPr>
              <a:t>Illustrative example based on representative terms. Secured, not guaranteed. Not an offer to sell securities.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8010144" cy="219456"/>
          </a:xfrm>
          <a:prstGeom prst="rect">
            <a:avLst/>
          </a:prstGeom>
          <a:noFill/>
          <a:ln/>
        </p:spPr>
        <p:txBody>
          <a:bodyPr wrap="square" lIns="0" tIns="0" rIns="0" bIns="0" rtlCol="0" anchor="ctr"/>
          <a:lstStyle/>
          <a:p>
            <a:pPr indent="0" marL="0">
              <a:buNone/>
            </a:pPr>
            <a:r>
              <a:rPr lang="en-US" sz="900" b="1" spc="200" kern="0" dirty="0">
                <a:solidFill>
                  <a:srgbClr val="C89430"/>
                </a:solidFill>
                <a:latin typeface="Arial" pitchFamily="34" charset="0"/>
                <a:ea typeface="Arial" pitchFamily="34" charset="-122"/>
                <a:cs typeface="Arial" pitchFamily="34" charset="-120"/>
              </a:rPr>
              <a:t>THE CUSHION BENEATH YOU</a:t>
            </a:r>
            <a:endParaRPr lang="en-US" sz="900" dirty="0"/>
          </a:p>
        </p:txBody>
      </p:sp>
      <p:sp>
        <p:nvSpPr>
          <p:cNvPr id="3" name="Text 1"/>
          <p:cNvSpPr/>
          <p:nvPr/>
        </p:nvSpPr>
        <p:spPr>
          <a:xfrm>
            <a:off x="566928" y="603504"/>
            <a:ext cx="8010144" cy="566928"/>
          </a:xfrm>
          <a:prstGeom prst="rect">
            <a:avLst/>
          </a:prstGeom>
          <a:noFill/>
          <a:ln/>
        </p:spPr>
        <p:txBody>
          <a:bodyPr wrap="square" lIns="0" tIns="0" rIns="0" bIns="0" rtlCol="0" anchor="ctr"/>
          <a:lstStyle/>
          <a:p>
            <a:pPr indent="0" marL="0">
              <a:buNone/>
            </a:pPr>
            <a:r>
              <a:rPr lang="en-US" sz="3300" b="1" dirty="0">
                <a:solidFill>
                  <a:srgbClr val="1E3C36"/>
                </a:solidFill>
                <a:latin typeface="Georgia" pitchFamily="34" charset="0"/>
                <a:ea typeface="Georgia" pitchFamily="34" charset="-122"/>
                <a:cs typeface="Georgia" pitchFamily="34" charset="-120"/>
              </a:rPr>
              <a:t>How You're Protected</a:t>
            </a:r>
            <a:endParaRPr lang="en-US" sz="3300" dirty="0"/>
          </a:p>
        </p:txBody>
      </p:sp>
      <p:sp>
        <p:nvSpPr>
          <p:cNvPr id="4" name="Text 2"/>
          <p:cNvSpPr/>
          <p:nvPr/>
        </p:nvSpPr>
        <p:spPr>
          <a:xfrm>
            <a:off x="566928" y="1188720"/>
            <a:ext cx="8010144" cy="310896"/>
          </a:xfrm>
          <a:prstGeom prst="rect">
            <a:avLst/>
          </a:prstGeom>
          <a:noFill/>
          <a:ln/>
        </p:spPr>
        <p:txBody>
          <a:bodyPr wrap="square" lIns="0" tIns="0" rIns="0" bIns="0" rtlCol="0" anchor="ctr"/>
          <a:lstStyle/>
          <a:p>
            <a:pPr indent="0" marL="0">
              <a:buNone/>
            </a:pPr>
            <a:r>
              <a:rPr lang="en-US" sz="1250" dirty="0">
                <a:solidFill>
                  <a:srgbClr val="6B7A75"/>
                </a:solidFill>
                <a:latin typeface="Georgia" pitchFamily="34" charset="0"/>
                <a:ea typeface="Georgia" pitchFamily="34" charset="-122"/>
                <a:cs typeface="Georgia" pitchFamily="34" charset="-120"/>
              </a:rPr>
              <a:t>Your first-priority claim is $140,800 against a $320,000 finished home — 44% of value.</a:t>
            </a:r>
            <a:endParaRPr lang="en-US" sz="1250" dirty="0"/>
          </a:p>
        </p:txBody>
      </p:sp>
      <p:pic>
        <p:nvPicPr>
          <p:cNvPr id="5" name="Image 0" descr="preencoded.png">    </p:cNvPr>
          <p:cNvPicPr>
            <a:picLocks noChangeAspect="1"/>
          </p:cNvPicPr>
          <p:nvPr/>
        </p:nvPicPr>
        <p:blipFill>
          <a:blip r:embed="rId1"/>
          <a:stretch>
            <a:fillRect/>
          </a:stretch>
        </p:blipFill>
        <p:spPr>
          <a:xfrm>
            <a:off x="8266176" y="329184"/>
            <a:ext cx="274320" cy="310896"/>
          </a:xfrm>
          <a:prstGeom prst="rect">
            <a:avLst/>
          </a:prstGeom>
        </p:spPr>
      </p:pic>
      <p:sp>
        <p:nvSpPr>
          <p:cNvPr id="6" name="Shape 3"/>
          <p:cNvSpPr/>
          <p:nvPr/>
        </p:nvSpPr>
        <p:spPr>
          <a:xfrm>
            <a:off x="566928" y="1609344"/>
            <a:ext cx="3895344" cy="1627632"/>
          </a:xfrm>
          <a:prstGeom prst="roundRect">
            <a:avLst>
              <a:gd name="adj" fmla="val 4494"/>
            </a:avLst>
          </a:prstGeom>
          <a:solidFill>
            <a:srgbClr val="F5F7F6"/>
          </a:solidFill>
          <a:ln w="12700">
            <a:solidFill>
              <a:srgbClr val="F5F7F6"/>
            </a:solidFill>
            <a:prstDash val="solid"/>
          </a:ln>
        </p:spPr>
      </p:sp>
      <p:sp>
        <p:nvSpPr>
          <p:cNvPr id="7" name="Text 4"/>
          <p:cNvSpPr/>
          <p:nvPr/>
        </p:nvSpPr>
        <p:spPr>
          <a:xfrm>
            <a:off x="786384" y="1755648"/>
            <a:ext cx="3456432" cy="256032"/>
          </a:xfrm>
          <a:prstGeom prst="rect">
            <a:avLst/>
          </a:prstGeom>
          <a:noFill/>
          <a:ln/>
        </p:spPr>
        <p:txBody>
          <a:bodyPr wrap="square" lIns="0" tIns="0" rIns="0" bIns="0" rtlCol="0" anchor="ctr"/>
          <a:lstStyle/>
          <a:p>
            <a:pPr indent="0" marL="0">
              <a:buNone/>
            </a:pPr>
            <a:r>
              <a:rPr lang="en-US" sz="1150" b="1" dirty="0">
                <a:solidFill>
                  <a:srgbClr val="1E3C36"/>
                </a:solidFill>
                <a:latin typeface="Arial" pitchFamily="34" charset="0"/>
                <a:ea typeface="Arial" pitchFamily="34" charset="-122"/>
                <a:cs typeface="Arial" pitchFamily="34" charset="-120"/>
              </a:rPr>
              <a:t>At closing</a:t>
            </a:r>
            <a:endParaRPr lang="en-US" sz="1150" dirty="0"/>
          </a:p>
        </p:txBody>
      </p:sp>
      <p:sp>
        <p:nvSpPr>
          <p:cNvPr id="8" name="Text 5"/>
          <p:cNvSpPr/>
          <p:nvPr/>
        </p:nvSpPr>
        <p:spPr>
          <a:xfrm>
            <a:off x="786384" y="2029968"/>
            <a:ext cx="3456432" cy="566928"/>
          </a:xfrm>
          <a:prstGeom prst="rect">
            <a:avLst/>
          </a:prstGeom>
          <a:noFill/>
          <a:ln/>
        </p:spPr>
        <p:txBody>
          <a:bodyPr wrap="square" lIns="0" tIns="0" rIns="0" bIns="0" rtlCol="0" anchor="ctr"/>
          <a:lstStyle/>
          <a:p>
            <a:pPr indent="0" marL="0">
              <a:buNone/>
            </a:pPr>
            <a:r>
              <a:rPr lang="en-US" sz="3400" b="1" dirty="0">
                <a:solidFill>
                  <a:srgbClr val="C89430"/>
                </a:solidFill>
                <a:latin typeface="Georgia" pitchFamily="34" charset="0"/>
                <a:ea typeface="Georgia" pitchFamily="34" charset="-122"/>
                <a:cs typeface="Georgia" pitchFamily="34" charset="-120"/>
              </a:rPr>
              <a:t>$59,200</a:t>
            </a:r>
            <a:endParaRPr lang="en-US" sz="3400" dirty="0"/>
          </a:p>
        </p:txBody>
      </p:sp>
      <p:sp>
        <p:nvSpPr>
          <p:cNvPr id="9" name="Text 6"/>
          <p:cNvSpPr/>
          <p:nvPr/>
        </p:nvSpPr>
        <p:spPr>
          <a:xfrm>
            <a:off x="786384" y="2651760"/>
            <a:ext cx="3456432" cy="493776"/>
          </a:xfrm>
          <a:prstGeom prst="rect">
            <a:avLst/>
          </a:prstGeom>
          <a:noFill/>
          <a:ln/>
        </p:spPr>
        <p:txBody>
          <a:bodyPr wrap="square" lIns="0" tIns="0" rIns="0" bIns="0" rtlCol="0" anchor="ctr"/>
          <a:lstStyle/>
          <a:p>
            <a:pPr indent="0" marL="0">
              <a:buNone/>
            </a:pPr>
            <a:r>
              <a:rPr lang="en-US" sz="1000" dirty="0">
                <a:solidFill>
                  <a:srgbClr val="6B7A75"/>
                </a:solidFill>
                <a:latin typeface="Georgia" pitchFamily="34" charset="0"/>
                <a:ea typeface="Georgia" pitchFamily="34" charset="-122"/>
                <a:cs typeface="Georgia" pitchFamily="34" charset="-120"/>
              </a:rPr>
              <a:t>of other people's cash sits beneath you — our $39,200 plus the borrower's $20,000.</a:t>
            </a:r>
            <a:endParaRPr lang="en-US" sz="1000" dirty="0"/>
          </a:p>
        </p:txBody>
      </p:sp>
      <p:sp>
        <p:nvSpPr>
          <p:cNvPr id="10" name="Shape 7"/>
          <p:cNvSpPr/>
          <p:nvPr/>
        </p:nvSpPr>
        <p:spPr>
          <a:xfrm>
            <a:off x="4681728" y="1609344"/>
            <a:ext cx="3895344" cy="1627632"/>
          </a:xfrm>
          <a:prstGeom prst="roundRect">
            <a:avLst>
              <a:gd name="adj" fmla="val 4494"/>
            </a:avLst>
          </a:prstGeom>
          <a:solidFill>
            <a:srgbClr val="F5F7F6"/>
          </a:solidFill>
          <a:ln w="12700">
            <a:solidFill>
              <a:srgbClr val="F5F7F6"/>
            </a:solidFill>
            <a:prstDash val="solid"/>
          </a:ln>
        </p:spPr>
      </p:sp>
      <p:sp>
        <p:nvSpPr>
          <p:cNvPr id="11" name="Text 8"/>
          <p:cNvSpPr/>
          <p:nvPr/>
        </p:nvSpPr>
        <p:spPr>
          <a:xfrm>
            <a:off x="4901184" y="1755648"/>
            <a:ext cx="3456432" cy="256032"/>
          </a:xfrm>
          <a:prstGeom prst="rect">
            <a:avLst/>
          </a:prstGeom>
          <a:noFill/>
          <a:ln/>
        </p:spPr>
        <p:txBody>
          <a:bodyPr wrap="square" lIns="0" tIns="0" rIns="0" bIns="0" rtlCol="0" anchor="ctr"/>
          <a:lstStyle/>
          <a:p>
            <a:pPr indent="0" marL="0">
              <a:buNone/>
            </a:pPr>
            <a:r>
              <a:rPr lang="en-US" sz="1150" b="1" dirty="0">
                <a:solidFill>
                  <a:srgbClr val="1E3C36"/>
                </a:solidFill>
                <a:latin typeface="Arial" pitchFamily="34" charset="0"/>
                <a:ea typeface="Arial" pitchFamily="34" charset="-122"/>
                <a:cs typeface="Arial" pitchFamily="34" charset="-120"/>
              </a:rPr>
              <a:t>At finish</a:t>
            </a:r>
            <a:endParaRPr lang="en-US" sz="1150" dirty="0"/>
          </a:p>
        </p:txBody>
      </p:sp>
      <p:sp>
        <p:nvSpPr>
          <p:cNvPr id="12" name="Text 9"/>
          <p:cNvSpPr/>
          <p:nvPr/>
        </p:nvSpPr>
        <p:spPr>
          <a:xfrm>
            <a:off x="4901184" y="2029968"/>
            <a:ext cx="3456432" cy="566928"/>
          </a:xfrm>
          <a:prstGeom prst="rect">
            <a:avLst/>
          </a:prstGeom>
          <a:noFill/>
          <a:ln/>
        </p:spPr>
        <p:txBody>
          <a:bodyPr wrap="square" lIns="0" tIns="0" rIns="0" bIns="0" rtlCol="0" anchor="ctr"/>
          <a:lstStyle/>
          <a:p>
            <a:pPr indent="0" marL="0">
              <a:buNone/>
            </a:pPr>
            <a:r>
              <a:rPr lang="en-US" sz="3400" b="1" dirty="0">
                <a:solidFill>
                  <a:srgbClr val="C89430"/>
                </a:solidFill>
                <a:latin typeface="Georgia" pitchFamily="34" charset="0"/>
                <a:ea typeface="Georgia" pitchFamily="34" charset="-122"/>
                <a:cs typeface="Georgia" pitchFamily="34" charset="-120"/>
              </a:rPr>
              <a:t>$179,200</a:t>
            </a:r>
            <a:endParaRPr lang="en-US" sz="3400" dirty="0"/>
          </a:p>
        </p:txBody>
      </p:sp>
      <p:sp>
        <p:nvSpPr>
          <p:cNvPr id="13" name="Text 10"/>
          <p:cNvSpPr/>
          <p:nvPr/>
        </p:nvSpPr>
        <p:spPr>
          <a:xfrm>
            <a:off x="4901184" y="2651760"/>
            <a:ext cx="3456432" cy="493776"/>
          </a:xfrm>
          <a:prstGeom prst="rect">
            <a:avLst/>
          </a:prstGeom>
          <a:noFill/>
          <a:ln/>
        </p:spPr>
        <p:txBody>
          <a:bodyPr wrap="square" lIns="0" tIns="0" rIns="0" bIns="0" rtlCol="0" anchor="ctr"/>
          <a:lstStyle/>
          <a:p>
            <a:pPr indent="0" marL="0">
              <a:buNone/>
            </a:pPr>
            <a:r>
              <a:rPr lang="en-US" sz="1000" dirty="0">
                <a:solidFill>
                  <a:srgbClr val="6B7A75"/>
                </a:solidFill>
                <a:latin typeface="Georgia" pitchFamily="34" charset="0"/>
                <a:ea typeface="Georgia" pitchFamily="34" charset="-122"/>
                <a:cs typeface="Georgia" pitchFamily="34" charset="-120"/>
              </a:rPr>
              <a:t>of cash and equity beneath you — 56% of the finished home's value.</a:t>
            </a:r>
            <a:endParaRPr lang="en-US" sz="1000" dirty="0"/>
          </a:p>
        </p:txBody>
      </p:sp>
      <p:sp>
        <p:nvSpPr>
          <p:cNvPr id="14" name="Shape 11"/>
          <p:cNvSpPr/>
          <p:nvPr/>
        </p:nvSpPr>
        <p:spPr>
          <a:xfrm>
            <a:off x="566928" y="3529584"/>
            <a:ext cx="8010144" cy="914400"/>
          </a:xfrm>
          <a:prstGeom prst="roundRect">
            <a:avLst>
              <a:gd name="adj" fmla="val 6000"/>
            </a:avLst>
          </a:prstGeom>
          <a:solidFill>
            <a:srgbClr val="FAF6EC"/>
          </a:solidFill>
          <a:ln w="12700">
            <a:solidFill>
              <a:srgbClr val="E8DEC6"/>
            </a:solidFill>
            <a:prstDash val="solid"/>
          </a:ln>
        </p:spPr>
      </p:sp>
      <p:sp>
        <p:nvSpPr>
          <p:cNvPr id="15" name="Text 12"/>
          <p:cNvSpPr/>
          <p:nvPr/>
        </p:nvSpPr>
        <p:spPr>
          <a:xfrm>
            <a:off x="768096" y="3529584"/>
            <a:ext cx="7607808" cy="914400"/>
          </a:xfrm>
          <a:prstGeom prst="rect">
            <a:avLst/>
          </a:prstGeom>
          <a:noFill/>
          <a:ln/>
        </p:spPr>
        <p:txBody>
          <a:bodyPr wrap="square" lIns="0" tIns="0" rIns="0" bIns="0" rtlCol="0" anchor="ctr"/>
          <a:lstStyle/>
          <a:p>
            <a:pPr indent="0" marL="0">
              <a:buNone/>
            </a:pPr>
            <a:r>
              <a:rPr lang="en-US" sz="1050" b="1" dirty="0">
                <a:solidFill>
                  <a:srgbClr val="1E3C36"/>
                </a:solidFill>
                <a:latin typeface="Georgia" pitchFamily="34" charset="0"/>
                <a:ea typeface="Georgia" pitchFamily="34" charset="-122"/>
                <a:cs typeface="Georgia" pitchFamily="34" charset="-120"/>
              </a:rPr>
              <a:t>First-priority from day one. </a:t>
            </a:r>
            <a:pPr indent="0" marL="0">
              <a:buNone/>
            </a:pPr>
            <a:r>
              <a:rPr lang="en-US" sz="1050" dirty="0">
                <a:solidFill>
                  <a:srgbClr val="2E3B38"/>
                </a:solidFill>
                <a:latin typeface="Georgia" pitchFamily="34" charset="0"/>
                <a:ea typeface="Georgia" pitchFamily="34" charset="-122"/>
                <a:cs typeface="Georgia" pitchFamily="34" charset="-120"/>
              </a:rPr>
              <a:t>By a recorded collateral assignment you hold first call on the borrower's first-lien note for the entire $140,800 the day the loan closes. Our $76,000 holdback only enters the property as verified work adds value — so the loan never gets ahead of the home's worth, and your cushion grows every week.</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8010144" cy="219456"/>
          </a:xfrm>
          <a:prstGeom prst="rect">
            <a:avLst/>
          </a:prstGeom>
          <a:noFill/>
          <a:ln/>
        </p:spPr>
        <p:txBody>
          <a:bodyPr wrap="square" lIns="0" tIns="0" rIns="0" bIns="0" rtlCol="0" anchor="ctr"/>
          <a:lstStyle/>
          <a:p>
            <a:pPr indent="0" marL="0">
              <a:buNone/>
            </a:pPr>
            <a:r>
              <a:rPr lang="en-US" sz="900" b="1" spc="200" kern="0" dirty="0">
                <a:solidFill>
                  <a:srgbClr val="C89430"/>
                </a:solidFill>
                <a:latin typeface="Arial" pitchFamily="34" charset="0"/>
                <a:ea typeface="Arial" pitchFamily="34" charset="-122"/>
                <a:cs typeface="Arial" pitchFamily="34" charset="-120"/>
              </a:rPr>
              <a:t>IF IT GOES WRONG</a:t>
            </a:r>
            <a:endParaRPr lang="en-US" sz="900" dirty="0"/>
          </a:p>
        </p:txBody>
      </p:sp>
      <p:sp>
        <p:nvSpPr>
          <p:cNvPr id="3" name="Text 1"/>
          <p:cNvSpPr/>
          <p:nvPr/>
        </p:nvSpPr>
        <p:spPr>
          <a:xfrm>
            <a:off x="566928" y="603504"/>
            <a:ext cx="8010144" cy="566928"/>
          </a:xfrm>
          <a:prstGeom prst="rect">
            <a:avLst/>
          </a:prstGeom>
          <a:noFill/>
          <a:ln/>
        </p:spPr>
        <p:txBody>
          <a:bodyPr wrap="square" lIns="0" tIns="0" rIns="0" bIns="0" rtlCol="0" anchor="ctr"/>
          <a:lstStyle/>
          <a:p>
            <a:pPr indent="0" marL="0">
              <a:buNone/>
            </a:pPr>
            <a:r>
              <a:rPr lang="en-US" sz="3300" b="1" dirty="0">
                <a:solidFill>
                  <a:srgbClr val="1E3C36"/>
                </a:solidFill>
                <a:latin typeface="Georgia" pitchFamily="34" charset="0"/>
                <a:ea typeface="Georgia" pitchFamily="34" charset="-122"/>
                <a:cs typeface="Georgia" pitchFamily="34" charset="-120"/>
              </a:rPr>
              <a:t>The Downside, Stress-Tested</a:t>
            </a:r>
            <a:endParaRPr lang="en-US" sz="3300" dirty="0"/>
          </a:p>
        </p:txBody>
      </p:sp>
      <p:sp>
        <p:nvSpPr>
          <p:cNvPr id="4" name="Text 2"/>
          <p:cNvSpPr/>
          <p:nvPr/>
        </p:nvSpPr>
        <p:spPr>
          <a:xfrm>
            <a:off x="566928" y="1188720"/>
            <a:ext cx="8010144" cy="310896"/>
          </a:xfrm>
          <a:prstGeom prst="rect">
            <a:avLst/>
          </a:prstGeom>
          <a:noFill/>
          <a:ln/>
        </p:spPr>
        <p:txBody>
          <a:bodyPr wrap="square" lIns="0" tIns="0" rIns="0" bIns="0" rtlCol="0" anchor="ctr"/>
          <a:lstStyle/>
          <a:p>
            <a:pPr indent="0" marL="0">
              <a:buNone/>
            </a:pPr>
            <a:r>
              <a:rPr lang="en-US" sz="1250" dirty="0">
                <a:solidFill>
                  <a:srgbClr val="6B7A75"/>
                </a:solidFill>
                <a:latin typeface="Georgia" pitchFamily="34" charset="0"/>
                <a:ea typeface="Georgia" pitchFamily="34" charset="-122"/>
                <a:cs typeface="Georgia" pitchFamily="34" charset="-120"/>
              </a:rPr>
              <a:t>How far would the sale price have to fall before your $140,800 takes its first dollar of loss?</a:t>
            </a:r>
            <a:endParaRPr lang="en-US" sz="1250" dirty="0"/>
          </a:p>
        </p:txBody>
      </p:sp>
      <p:pic>
        <p:nvPicPr>
          <p:cNvPr id="5" name="Image 0" descr="preencoded.png">    </p:cNvPr>
          <p:cNvPicPr>
            <a:picLocks noChangeAspect="1"/>
          </p:cNvPicPr>
          <p:nvPr/>
        </p:nvPicPr>
        <p:blipFill>
          <a:blip r:embed="rId1"/>
          <a:stretch>
            <a:fillRect/>
          </a:stretch>
        </p:blipFill>
        <p:spPr>
          <a:xfrm>
            <a:off x="8266176" y="329184"/>
            <a:ext cx="274320" cy="310896"/>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8010144" cy="914400"/>
        </p:xfrm>
        <a:graphic>
          <a:graphicData uri="http://schemas.openxmlformats.org/drawingml/2006/table">
            <a:tbl>
              <a:tblPr/>
              <a:tblGrid>
                <a:gridCol w="3986784"/>
                <a:gridCol w="1920240"/>
                <a:gridCol w="2103120"/>
              </a:tblGrid>
              <a:tr h="365760">
                <a:tc>
                  <a:txBody>
                    <a:bodyPr/>
                    <a:lstStyle/>
                    <a:p>
                      <a:pPr indent="0" marL="0">
                        <a:buNone/>
                      </a:pPr>
                      <a:r>
                        <a:rPr lang="en-US" sz="850" b="1" spc="120" kern="0" dirty="0">
                          <a:solidFill>
                            <a:srgbClr val="F0EADE"/>
                          </a:solidFill>
                          <a:latin typeface="Arial" pitchFamily="34" charset="0"/>
                          <a:ea typeface="Arial" pitchFamily="34" charset="-122"/>
                          <a:cs typeface="Arial" pitchFamily="34" charset="-120"/>
                        </a:rPr>
                        <a:t>IF THE PROPERTY SOLD AT…</a:t>
                      </a:r>
                      <a:endParaRPr lang="en-US" sz="8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1E3C36"/>
                    </a:solidFill>
                  </a:tcPr>
                </a:tc>
                <a:tc>
                  <a:txBody>
                    <a:bodyPr/>
                    <a:lstStyle/>
                    <a:p>
                      <a:pPr indent="0" marL="0">
                        <a:buNone/>
                      </a:pPr>
                      <a:r>
                        <a:rPr lang="en-US" sz="850" b="1" spc="120" kern="0" dirty="0">
                          <a:solidFill>
                            <a:srgbClr val="F0EADE"/>
                          </a:solidFill>
                          <a:latin typeface="Arial" pitchFamily="34" charset="0"/>
                          <a:ea typeface="Arial" pitchFamily="34" charset="-122"/>
                          <a:cs typeface="Arial" pitchFamily="34" charset="-120"/>
                        </a:rPr>
                        <a:t>VS. ARV</a:t>
                      </a:r>
                      <a:endParaRPr lang="en-US" sz="8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1E3C36"/>
                    </a:solidFill>
                  </a:tcPr>
                </a:tc>
                <a:tc>
                  <a:txBody>
                    <a:bodyPr/>
                    <a:lstStyle/>
                    <a:p>
                      <a:pPr indent="0" marL="0">
                        <a:buNone/>
                      </a:pPr>
                      <a:r>
                        <a:rPr lang="en-US" sz="850" b="1" spc="120" kern="0" dirty="0">
                          <a:solidFill>
                            <a:srgbClr val="F0EADE"/>
                          </a:solidFill>
                          <a:latin typeface="Arial" pitchFamily="34" charset="0"/>
                          <a:ea typeface="Arial" pitchFamily="34" charset="-122"/>
                          <a:cs typeface="Arial" pitchFamily="34" charset="-120"/>
                        </a:rPr>
                        <a:t>YOUR $140,800</a:t>
                      </a:r>
                      <a:endParaRPr lang="en-US" sz="8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1E3C36"/>
                    </a:solidFill>
                  </a:tcPr>
                </a:tc>
              </a:tr>
              <a:tr h="365760">
                <a:tc>
                  <a:txBody>
                    <a:bodyPr/>
                    <a:lstStyle/>
                    <a:p>
                      <a:pPr indent="0" marL="0">
                        <a:buNone/>
                      </a:pPr>
                      <a:r>
                        <a:rPr lang="en-US" sz="1050" dirty="0">
                          <a:solidFill>
                            <a:srgbClr val="2E3B38"/>
                          </a:solidFill>
                          <a:latin typeface="Arial" pitchFamily="34" charset="0"/>
                          <a:ea typeface="Arial" pitchFamily="34" charset="-122"/>
                          <a:cs typeface="Arial" pitchFamily="34" charset="-120"/>
                        </a:rPr>
                        <a:t>$320,000  (plan)</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ARV</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b="1" dirty="0">
                          <a:solidFill>
                            <a:srgbClr val="1E3C36"/>
                          </a:solidFill>
                          <a:latin typeface="Arial" pitchFamily="34" charset="0"/>
                          <a:ea typeface="Arial" pitchFamily="34" charset="-122"/>
                          <a:cs typeface="Arial" pitchFamily="34" charset="-120"/>
                        </a:rPr>
                        <a:t>Fully repaid</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2E3B38"/>
                          </a:solidFill>
                          <a:latin typeface="Arial" pitchFamily="34" charset="0"/>
                          <a:ea typeface="Arial" pitchFamily="34" charset="-122"/>
                          <a:cs typeface="Arial" pitchFamily="34" charset="-120"/>
                        </a:rPr>
                        <a:t>$256,000  (a 20% miss)</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–20%</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b="1" dirty="0">
                          <a:solidFill>
                            <a:srgbClr val="1E3C36"/>
                          </a:solidFill>
                          <a:latin typeface="Arial" pitchFamily="34" charset="0"/>
                          <a:ea typeface="Arial" pitchFamily="34" charset="-122"/>
                          <a:cs typeface="Arial" pitchFamily="34" charset="-120"/>
                        </a:rPr>
                        <a:t>Fully repaid</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2E3B38"/>
                          </a:solidFill>
                          <a:latin typeface="Arial" pitchFamily="34" charset="0"/>
                          <a:ea typeface="Arial" pitchFamily="34" charset="-122"/>
                          <a:cs typeface="Arial" pitchFamily="34" charset="-120"/>
                        </a:rPr>
                        <a:t>$200,000  (un-renovated purchase price)</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–37.5%</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c>
                  <a:txBody>
                    <a:bodyPr/>
                    <a:lstStyle/>
                    <a:p>
                      <a:pPr indent="0" marL="0">
                        <a:buNone/>
                      </a:pPr>
                      <a:r>
                        <a:rPr lang="en-US" sz="1050" b="1" dirty="0">
                          <a:solidFill>
                            <a:srgbClr val="1E3C36"/>
                          </a:solidFill>
                          <a:latin typeface="Arial" pitchFamily="34" charset="0"/>
                          <a:ea typeface="Arial" pitchFamily="34" charset="-122"/>
                          <a:cs typeface="Arial" pitchFamily="34" charset="-120"/>
                        </a:rPr>
                        <a:t>Fully repaid</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2E3B38"/>
                          </a:solidFill>
                          <a:latin typeface="Arial" pitchFamily="34" charset="0"/>
                          <a:ea typeface="Arial" pitchFamily="34" charset="-122"/>
                          <a:cs typeface="Arial" pitchFamily="34" charset="-120"/>
                        </a:rPr>
                        <a:t>$158,000  (approximate breakeven)</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AF6EC"/>
                    </a:solidFill>
                  </a:tcPr>
                </a:tc>
                <a:tc>
                  <a:txBody>
                    <a:bodyPr/>
                    <a:lstStyle/>
                    <a:p>
                      <a:pPr indent="0" marL="0">
                        <a:buNone/>
                      </a:pPr>
                      <a:r>
                        <a:rPr lang="en-US" sz="1050" dirty="0">
                          <a:solidFill>
                            <a:srgbClr val="2E3B38"/>
                          </a:solidFill>
                          <a:latin typeface="Arial" pitchFamily="34" charset="0"/>
                          <a:ea typeface="Arial" pitchFamily="34" charset="-122"/>
                          <a:cs typeface="Arial" pitchFamily="34" charset="-120"/>
                        </a:rPr>
                        <a:t>–51%</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AF6EC"/>
                    </a:solidFill>
                  </a:tcPr>
                </a:tc>
                <a:tc>
                  <a:txBody>
                    <a:bodyPr/>
                    <a:lstStyle/>
                    <a:p>
                      <a:pPr indent="0" marL="0">
                        <a:buNone/>
                      </a:pPr>
                      <a:r>
                        <a:rPr lang="en-US" sz="1050" b="1" dirty="0">
                          <a:solidFill>
                            <a:srgbClr val="C89430"/>
                          </a:solidFill>
                          <a:latin typeface="Arial" pitchFamily="34" charset="0"/>
                          <a:ea typeface="Arial" pitchFamily="34" charset="-122"/>
                          <a:cs typeface="Arial" pitchFamily="34" charset="-120"/>
                        </a:rPr>
                        <a:t>Fully repaid</a:t>
                      </a:r>
                      <a:endParaRPr lang="en-US" sz="1050" dirty="0">
                        <a:latin typeface="Arial" charset="0"/>
                        <a:ea typeface="Arial" charset="0"/>
                        <a:cs typeface="Arial" charset="0"/>
                      </a:endParaRPr>
                    </a:p>
                  </a:txBody>
                  <a:tcPr marL="54864" marR="54864" marT="54864" marB="54864" anchor="ctr">
                    <a:lnL w="6350" cap="flat" cmpd="sng" algn="ctr">
                      <a:solidFill>
                        <a:srgbClr val="EDEDEA"/>
                      </a:solidFill>
                      <a:prstDash val="solid"/>
                      <a:round/>
                      <a:headEnd type="none" w="med" len="med"/>
                      <a:tailEnd type="none" w="med" len="med"/>
                    </a:lnL>
                    <a:lnR w="6350" cap="flat" cmpd="sng" algn="ctr">
                      <a:solidFill>
                        <a:srgbClr val="EDEDEA"/>
                      </a:solidFill>
                      <a:prstDash val="solid"/>
                      <a:round/>
                      <a:headEnd type="none" w="med" len="med"/>
                      <a:tailEnd type="none" w="med" len="med"/>
                    </a:lnR>
                    <a:lnT w="6350" cap="flat" cmpd="sng" algn="ctr">
                      <a:solidFill>
                        <a:srgbClr val="EDEDEA"/>
                      </a:solidFill>
                      <a:prstDash val="solid"/>
                      <a:round/>
                      <a:headEnd type="none" w="med" len="med"/>
                      <a:tailEnd type="none" w="med" len="med"/>
                    </a:lnT>
                    <a:lnB w="6350" cap="flat" cmpd="sng" algn="ctr">
                      <a:solidFill>
                        <a:srgbClr val="EDEDEA"/>
                      </a:solidFill>
                      <a:prstDash val="solid"/>
                      <a:round/>
                      <a:headEnd type="none" w="med" len="med"/>
                      <a:tailEnd type="none" w="med" len="med"/>
                    </a:lnB>
                    <a:solidFill>
                      <a:srgbClr val="FAF6EC"/>
                    </a:solidFill>
                  </a:tcPr>
                </a:tc>
              </a:tr>
            </a:tbl>
          </a:graphicData>
        </a:graphic>
      </p:graphicFrame>
      <p:sp>
        <p:nvSpPr>
          <p:cNvPr id="7" name="Text 3"/>
          <p:cNvSpPr/>
          <p:nvPr/>
        </p:nvSpPr>
        <p:spPr>
          <a:xfrm>
            <a:off x="566928" y="3474720"/>
            <a:ext cx="8010144" cy="219456"/>
          </a:xfrm>
          <a:prstGeom prst="rect">
            <a:avLst/>
          </a:prstGeom>
          <a:noFill/>
          <a:ln/>
        </p:spPr>
        <p:txBody>
          <a:bodyPr wrap="square" lIns="0" tIns="0" rIns="0" bIns="0" rtlCol="0" anchor="ctr"/>
          <a:lstStyle/>
          <a:p>
            <a:pPr indent="0" marL="0">
              <a:buNone/>
            </a:pPr>
            <a:r>
              <a:rPr lang="en-US" sz="800" i="1" dirty="0">
                <a:solidFill>
                  <a:srgbClr val="6B7A75"/>
                </a:solidFill>
                <a:latin typeface="Georgia" pitchFamily="34" charset="0"/>
                <a:ea typeface="Georgia" pitchFamily="34" charset="-122"/>
                <a:cs typeface="Georgia" pitchFamily="34" charset="-120"/>
              </a:rPr>
              <a:t>* Breakeven assumes your principal, accrued interest, and an allowance for foreclosure costs are recovered first from sale proceeds.</a:t>
            </a:r>
            <a:endParaRPr lang="en-US" sz="800" dirty="0"/>
          </a:p>
        </p:txBody>
      </p:sp>
      <p:sp>
        <p:nvSpPr>
          <p:cNvPr id="8" name="Shape 4"/>
          <p:cNvSpPr/>
          <p:nvPr/>
        </p:nvSpPr>
        <p:spPr>
          <a:xfrm>
            <a:off x="566928" y="3822192"/>
            <a:ext cx="8010144" cy="731520"/>
          </a:xfrm>
          <a:prstGeom prst="roundRect">
            <a:avLst>
              <a:gd name="adj" fmla="val 7500"/>
            </a:avLst>
          </a:prstGeom>
          <a:solidFill>
            <a:srgbClr val="1E3C36"/>
          </a:solidFill>
          <a:ln w="12700">
            <a:solidFill>
              <a:srgbClr val="1E3C36"/>
            </a:solidFill>
            <a:prstDash val="solid"/>
          </a:ln>
        </p:spPr>
      </p:sp>
      <p:sp>
        <p:nvSpPr>
          <p:cNvPr id="9" name="Text 5"/>
          <p:cNvSpPr/>
          <p:nvPr/>
        </p:nvSpPr>
        <p:spPr>
          <a:xfrm>
            <a:off x="768096" y="3822192"/>
            <a:ext cx="7607808" cy="731520"/>
          </a:xfrm>
          <a:prstGeom prst="rect">
            <a:avLst/>
          </a:prstGeom>
          <a:noFill/>
          <a:ln/>
        </p:spPr>
        <p:txBody>
          <a:bodyPr wrap="square" lIns="0" tIns="0" rIns="0" bIns="0" rtlCol="0" anchor="ctr"/>
          <a:lstStyle/>
          <a:p>
            <a:pPr indent="0" marL="0">
              <a:buNone/>
            </a:pPr>
            <a:r>
              <a:rPr lang="en-US" sz="1050" b="1" dirty="0">
                <a:solidFill>
                  <a:srgbClr val="C89430"/>
                </a:solidFill>
                <a:latin typeface="Georgia" pitchFamily="34" charset="0"/>
                <a:ea typeface="Georgia" pitchFamily="34" charset="-122"/>
                <a:cs typeface="Georgia" pitchFamily="34" charset="-120"/>
              </a:rPr>
              <a:t>In plain English: </a:t>
            </a:r>
            <a:pPr indent="0" marL="0">
              <a:buNone/>
            </a:pPr>
            <a:r>
              <a:rPr lang="en-US" sz="1050" dirty="0">
                <a:solidFill>
                  <a:srgbClr val="F0EADE"/>
                </a:solidFill>
                <a:latin typeface="Georgia" pitchFamily="34" charset="0"/>
                <a:ea typeface="Georgia" pitchFamily="34" charset="-122"/>
                <a:cs typeface="Georgia" pitchFamily="34" charset="-120"/>
              </a:rPr>
              <a:t>the home would have to sell for roughly half its finished value before your position is impaired. The borrower's $20,000 and our own $115,200 absorb every dollar of loss first.</a:t>
            </a:r>
            <a:endParaRPr lang="en-US" sz="1050" dirty="0"/>
          </a:p>
        </p:txBody>
      </p:sp>
      <p:sp>
        <p:nvSpPr>
          <p:cNvPr id="10" name="Text 6"/>
          <p:cNvSpPr/>
          <p:nvPr/>
        </p:nvSpPr>
        <p:spPr>
          <a:xfrm>
            <a:off x="566928" y="4759452"/>
            <a:ext cx="8010144" cy="201168"/>
          </a:xfrm>
          <a:prstGeom prst="rect">
            <a:avLst/>
          </a:prstGeom>
          <a:noFill/>
          <a:ln/>
        </p:spPr>
        <p:txBody>
          <a:bodyPr wrap="square" lIns="0" tIns="0" rIns="0" bIns="0" rtlCol="0" anchor="ctr"/>
          <a:lstStyle/>
          <a:p>
            <a:pPr indent="0" marL="0">
              <a:buNone/>
            </a:pPr>
            <a:r>
              <a:rPr lang="en-US" sz="750" i="1" dirty="0">
                <a:solidFill>
                  <a:srgbClr val="6B7A75"/>
                </a:solidFill>
                <a:latin typeface="Georgia" pitchFamily="34" charset="0"/>
                <a:ea typeface="Georgia" pitchFamily="34" charset="-122"/>
                <a:cs typeface="Georgia" pitchFamily="34" charset="-120"/>
              </a:rPr>
              <a:t>Illustrative example based on representative terms. Secured, not guaranteed. Not an offer to sell securities.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8010144" cy="219456"/>
          </a:xfrm>
          <a:prstGeom prst="rect">
            <a:avLst/>
          </a:prstGeom>
          <a:noFill/>
          <a:ln/>
        </p:spPr>
        <p:txBody>
          <a:bodyPr wrap="square" lIns="0" tIns="0" rIns="0" bIns="0" rtlCol="0" anchor="ctr"/>
          <a:lstStyle/>
          <a:p>
            <a:pPr indent="0" marL="0">
              <a:buNone/>
            </a:pPr>
            <a:r>
              <a:rPr lang="en-US" sz="900" b="1" spc="200" kern="0" dirty="0">
                <a:solidFill>
                  <a:srgbClr val="C89430"/>
                </a:solidFill>
                <a:latin typeface="Arial" pitchFamily="34" charset="0"/>
                <a:ea typeface="Arial" pitchFamily="34" charset="-122"/>
                <a:cs typeface="Arial" pitchFamily="34" charset="-120"/>
              </a:rPr>
              <a:t>DEFAULT AND RECOVERY</a:t>
            </a:r>
            <a:endParaRPr lang="en-US" sz="900" dirty="0"/>
          </a:p>
        </p:txBody>
      </p:sp>
      <p:sp>
        <p:nvSpPr>
          <p:cNvPr id="3" name="Text 1"/>
          <p:cNvSpPr/>
          <p:nvPr/>
        </p:nvSpPr>
        <p:spPr>
          <a:xfrm>
            <a:off x="566928" y="603504"/>
            <a:ext cx="8010144" cy="566928"/>
          </a:xfrm>
          <a:prstGeom prst="rect">
            <a:avLst/>
          </a:prstGeom>
          <a:noFill/>
          <a:ln/>
        </p:spPr>
        <p:txBody>
          <a:bodyPr wrap="square" lIns="0" tIns="0" rIns="0" bIns="0" rtlCol="0" anchor="ctr"/>
          <a:lstStyle/>
          <a:p>
            <a:pPr indent="0" marL="0">
              <a:buNone/>
            </a:pPr>
            <a:r>
              <a:rPr lang="en-US" sz="3300" b="1" dirty="0">
                <a:solidFill>
                  <a:srgbClr val="1E3C36"/>
                </a:solidFill>
                <a:latin typeface="Georgia" pitchFamily="34" charset="0"/>
                <a:ea typeface="Georgia" pitchFamily="34" charset="-122"/>
                <a:cs typeface="Georgia" pitchFamily="34" charset="-120"/>
              </a:rPr>
              <a:t>If the Deal Goes Sideways</a:t>
            </a:r>
            <a:endParaRPr lang="en-US" sz="3300" dirty="0"/>
          </a:p>
        </p:txBody>
      </p:sp>
      <p:pic>
        <p:nvPicPr>
          <p:cNvPr id="4" name="Image 0" descr="preencoded.png">    </p:cNvPr>
          <p:cNvPicPr>
            <a:picLocks noChangeAspect="1"/>
          </p:cNvPicPr>
          <p:nvPr/>
        </p:nvPicPr>
        <p:blipFill>
          <a:blip r:embed="rId1"/>
          <a:stretch>
            <a:fillRect/>
          </a:stretch>
        </p:blipFill>
        <p:spPr>
          <a:xfrm>
            <a:off x="8266176" y="329184"/>
            <a:ext cx="274320" cy="310896"/>
          </a:xfrm>
          <a:prstGeom prst="rect">
            <a:avLst/>
          </a:prstGeom>
        </p:spPr>
      </p:pic>
      <p:sp>
        <p:nvSpPr>
          <p:cNvPr id="5" name="Shape 2"/>
          <p:cNvSpPr/>
          <p:nvPr/>
        </p:nvSpPr>
        <p:spPr>
          <a:xfrm>
            <a:off x="585216" y="1463040"/>
            <a:ext cx="137160" cy="137160"/>
          </a:xfrm>
          <a:prstGeom prst="ellipse">
            <a:avLst/>
          </a:prstGeom>
          <a:solidFill>
            <a:srgbClr val="C89430"/>
          </a:solidFill>
          <a:ln w="12700">
            <a:solidFill>
              <a:srgbClr val="C89430"/>
            </a:solidFill>
            <a:prstDash val="solid"/>
          </a:ln>
        </p:spPr>
      </p:sp>
      <p:sp>
        <p:nvSpPr>
          <p:cNvPr id="6" name="Text 3"/>
          <p:cNvSpPr/>
          <p:nvPr/>
        </p:nvSpPr>
        <p:spPr>
          <a:xfrm>
            <a:off x="877824" y="1408176"/>
            <a:ext cx="7699248" cy="237744"/>
          </a:xfrm>
          <a:prstGeom prst="rect">
            <a:avLst/>
          </a:prstGeom>
          <a:noFill/>
          <a:ln/>
        </p:spPr>
        <p:txBody>
          <a:bodyPr wrap="square" lIns="0" tIns="0" rIns="0" bIns="0" rtlCol="0" anchor="ctr"/>
          <a:lstStyle/>
          <a:p>
            <a:pPr indent="0" marL="0">
              <a:buNone/>
            </a:pPr>
            <a:r>
              <a:rPr lang="en-US" sz="1250" b="1" dirty="0">
                <a:solidFill>
                  <a:srgbClr val="1E3C36"/>
                </a:solidFill>
                <a:latin typeface="Arial" pitchFamily="34" charset="0"/>
                <a:ea typeface="Arial" pitchFamily="34" charset="-122"/>
                <a:cs typeface="Arial" pitchFamily="34" charset="-120"/>
              </a:rPr>
              <a:t>Notice and cure</a:t>
            </a:r>
            <a:endParaRPr lang="en-US" sz="1250" dirty="0"/>
          </a:p>
        </p:txBody>
      </p:sp>
      <p:sp>
        <p:nvSpPr>
          <p:cNvPr id="7" name="Text 4"/>
          <p:cNvSpPr/>
          <p:nvPr/>
        </p:nvSpPr>
        <p:spPr>
          <a:xfrm>
            <a:off x="877824" y="1645920"/>
            <a:ext cx="7644384" cy="475488"/>
          </a:xfrm>
          <a:prstGeom prst="rect">
            <a:avLst/>
          </a:prstGeom>
          <a:noFill/>
          <a:ln/>
        </p:spPr>
        <p:txBody>
          <a:bodyPr wrap="square" lIns="0" tIns="0" rIns="0" bIns="0" rtlCol="0" anchor="ctr"/>
          <a:lstStyle/>
          <a:p>
            <a:pPr indent="0" marL="0">
              <a:buNone/>
            </a:pPr>
            <a:r>
              <a:rPr lang="en-US" sz="1050" dirty="0">
                <a:solidFill>
                  <a:srgbClr val="2E3B38"/>
                </a:solidFill>
                <a:latin typeface="Georgia" pitchFamily="34" charset="0"/>
                <a:ea typeface="Georgia" pitchFamily="34" charset="-122"/>
                <a:cs typeface="Georgia" pitchFamily="34" charset="-120"/>
              </a:rPr>
              <a:t>The borrower gets written notice and a 10-day period to cure the default.</a:t>
            </a:r>
            <a:endParaRPr lang="en-US" sz="1050" dirty="0"/>
          </a:p>
        </p:txBody>
      </p:sp>
      <p:sp>
        <p:nvSpPr>
          <p:cNvPr id="8" name="Shape 5"/>
          <p:cNvSpPr/>
          <p:nvPr/>
        </p:nvSpPr>
        <p:spPr>
          <a:xfrm>
            <a:off x="585216" y="2286000"/>
            <a:ext cx="137160" cy="137160"/>
          </a:xfrm>
          <a:prstGeom prst="ellipse">
            <a:avLst/>
          </a:prstGeom>
          <a:solidFill>
            <a:srgbClr val="C89430"/>
          </a:solidFill>
          <a:ln w="12700">
            <a:solidFill>
              <a:srgbClr val="C89430"/>
            </a:solidFill>
            <a:prstDash val="solid"/>
          </a:ln>
        </p:spPr>
      </p:sp>
      <p:sp>
        <p:nvSpPr>
          <p:cNvPr id="9" name="Text 6"/>
          <p:cNvSpPr/>
          <p:nvPr/>
        </p:nvSpPr>
        <p:spPr>
          <a:xfrm>
            <a:off x="877824" y="2231136"/>
            <a:ext cx="7699248" cy="237744"/>
          </a:xfrm>
          <a:prstGeom prst="rect">
            <a:avLst/>
          </a:prstGeom>
          <a:noFill/>
          <a:ln/>
        </p:spPr>
        <p:txBody>
          <a:bodyPr wrap="square" lIns="0" tIns="0" rIns="0" bIns="0" rtlCol="0" anchor="ctr"/>
          <a:lstStyle/>
          <a:p>
            <a:pPr indent="0" marL="0">
              <a:buNone/>
            </a:pPr>
            <a:r>
              <a:rPr lang="en-US" sz="1250" b="1" dirty="0">
                <a:solidFill>
                  <a:srgbClr val="1E3C36"/>
                </a:solidFill>
                <a:latin typeface="Arial" pitchFamily="34" charset="0"/>
                <a:ea typeface="Arial" pitchFamily="34" charset="-122"/>
                <a:cs typeface="Arial" pitchFamily="34" charset="-120"/>
              </a:rPr>
              <a:t>Fast foreclosure</a:t>
            </a:r>
            <a:endParaRPr lang="en-US" sz="1250" dirty="0"/>
          </a:p>
        </p:txBody>
      </p:sp>
      <p:sp>
        <p:nvSpPr>
          <p:cNvPr id="10" name="Text 7"/>
          <p:cNvSpPr/>
          <p:nvPr/>
        </p:nvSpPr>
        <p:spPr>
          <a:xfrm>
            <a:off x="877824" y="2468880"/>
            <a:ext cx="7644384" cy="475488"/>
          </a:xfrm>
          <a:prstGeom prst="rect">
            <a:avLst/>
          </a:prstGeom>
          <a:noFill/>
          <a:ln/>
        </p:spPr>
        <p:txBody>
          <a:bodyPr wrap="square" lIns="0" tIns="0" rIns="0" bIns="0" rtlCol="0" anchor="ctr"/>
          <a:lstStyle/>
          <a:p>
            <a:pPr indent="0" marL="0">
              <a:buNone/>
            </a:pPr>
            <a:r>
              <a:rPr lang="en-US" sz="1050" dirty="0">
                <a:solidFill>
                  <a:srgbClr val="2E3B38"/>
                </a:solidFill>
                <a:latin typeface="Georgia" pitchFamily="34" charset="0"/>
                <a:ea typeface="Georgia" pitchFamily="34" charset="-122"/>
                <a:cs typeface="Georgia" pitchFamily="34" charset="-120"/>
              </a:rPr>
              <a:t>If uncured, we accelerate and foreclose. Texas non-judicial foreclosure is among the fastest in the nation — roughly 45–60 days.</a:t>
            </a:r>
            <a:endParaRPr lang="en-US" sz="1050" dirty="0"/>
          </a:p>
        </p:txBody>
      </p:sp>
      <p:sp>
        <p:nvSpPr>
          <p:cNvPr id="11" name="Shape 8"/>
          <p:cNvSpPr/>
          <p:nvPr/>
        </p:nvSpPr>
        <p:spPr>
          <a:xfrm>
            <a:off x="585216" y="3108960"/>
            <a:ext cx="137160" cy="137160"/>
          </a:xfrm>
          <a:prstGeom prst="ellipse">
            <a:avLst/>
          </a:prstGeom>
          <a:solidFill>
            <a:srgbClr val="C89430"/>
          </a:solidFill>
          <a:ln w="12700">
            <a:solidFill>
              <a:srgbClr val="C89430"/>
            </a:solidFill>
            <a:prstDash val="solid"/>
          </a:ln>
        </p:spPr>
      </p:sp>
      <p:sp>
        <p:nvSpPr>
          <p:cNvPr id="12" name="Text 9"/>
          <p:cNvSpPr/>
          <p:nvPr/>
        </p:nvSpPr>
        <p:spPr>
          <a:xfrm>
            <a:off x="877824" y="3054096"/>
            <a:ext cx="7699248" cy="237744"/>
          </a:xfrm>
          <a:prstGeom prst="rect">
            <a:avLst/>
          </a:prstGeom>
          <a:noFill/>
          <a:ln/>
        </p:spPr>
        <p:txBody>
          <a:bodyPr wrap="square" lIns="0" tIns="0" rIns="0" bIns="0" rtlCol="0" anchor="ctr"/>
          <a:lstStyle/>
          <a:p>
            <a:pPr indent="0" marL="0">
              <a:buNone/>
            </a:pPr>
            <a:r>
              <a:rPr lang="en-US" sz="1250" b="1" dirty="0">
                <a:solidFill>
                  <a:srgbClr val="1E3C36"/>
                </a:solidFill>
                <a:latin typeface="Arial" pitchFamily="34" charset="0"/>
                <a:ea typeface="Arial" pitchFamily="34" charset="-122"/>
                <a:cs typeface="Arial" pitchFamily="34" charset="-120"/>
              </a:rPr>
              <a:t>You're paid in order</a:t>
            </a:r>
            <a:endParaRPr lang="en-US" sz="1250" dirty="0"/>
          </a:p>
        </p:txBody>
      </p:sp>
      <p:sp>
        <p:nvSpPr>
          <p:cNvPr id="13" name="Text 10"/>
          <p:cNvSpPr/>
          <p:nvPr/>
        </p:nvSpPr>
        <p:spPr>
          <a:xfrm>
            <a:off x="877824" y="3291840"/>
            <a:ext cx="7644384" cy="475488"/>
          </a:xfrm>
          <a:prstGeom prst="rect">
            <a:avLst/>
          </a:prstGeom>
          <a:noFill/>
          <a:ln/>
        </p:spPr>
        <p:txBody>
          <a:bodyPr wrap="square" lIns="0" tIns="0" rIns="0" bIns="0" rtlCol="0" anchor="ctr"/>
          <a:lstStyle/>
          <a:p>
            <a:pPr indent="0" marL="0">
              <a:buNone/>
            </a:pPr>
            <a:r>
              <a:rPr lang="en-US" sz="1050" dirty="0">
                <a:solidFill>
                  <a:srgbClr val="2E3B38"/>
                </a:solidFill>
                <a:latin typeface="Georgia" pitchFamily="34" charset="0"/>
                <a:ea typeface="Georgia" pitchFamily="34" charset="-122"/>
                <a:cs typeface="Georgia" pitchFamily="34" charset="-120"/>
              </a:rPr>
              <a:t>Sale proceeds follow the waterfall: foreclosure costs, then YOU by recorded collateral assignment, then Lazy Dog, then the borrower.</a:t>
            </a:r>
            <a:endParaRPr lang="en-US" sz="1050" dirty="0"/>
          </a:p>
        </p:txBody>
      </p:sp>
      <p:sp>
        <p:nvSpPr>
          <p:cNvPr id="14" name="Shape 11"/>
          <p:cNvSpPr/>
          <p:nvPr/>
        </p:nvSpPr>
        <p:spPr>
          <a:xfrm>
            <a:off x="585216" y="3931920"/>
            <a:ext cx="137160" cy="137160"/>
          </a:xfrm>
          <a:prstGeom prst="ellipse">
            <a:avLst/>
          </a:prstGeom>
          <a:solidFill>
            <a:srgbClr val="C89430"/>
          </a:solidFill>
          <a:ln w="12700">
            <a:solidFill>
              <a:srgbClr val="C89430"/>
            </a:solidFill>
            <a:prstDash val="solid"/>
          </a:ln>
        </p:spPr>
      </p:sp>
      <p:sp>
        <p:nvSpPr>
          <p:cNvPr id="15" name="Text 12"/>
          <p:cNvSpPr/>
          <p:nvPr/>
        </p:nvSpPr>
        <p:spPr>
          <a:xfrm>
            <a:off x="877824" y="3877056"/>
            <a:ext cx="7699248" cy="237744"/>
          </a:xfrm>
          <a:prstGeom prst="rect">
            <a:avLst/>
          </a:prstGeom>
          <a:noFill/>
          <a:ln/>
        </p:spPr>
        <p:txBody>
          <a:bodyPr wrap="square" lIns="0" tIns="0" rIns="0" bIns="0" rtlCol="0" anchor="ctr"/>
          <a:lstStyle/>
          <a:p>
            <a:pPr indent="0" marL="0">
              <a:buNone/>
            </a:pPr>
            <a:r>
              <a:rPr lang="en-US" sz="1250" b="1" dirty="0">
                <a:solidFill>
                  <a:srgbClr val="1E3C36"/>
                </a:solidFill>
                <a:latin typeface="Arial" pitchFamily="34" charset="0"/>
                <a:ea typeface="Arial" pitchFamily="34" charset="-122"/>
                <a:cs typeface="Arial" pitchFamily="34" charset="-120"/>
              </a:rPr>
              <a:t>We finish it ourselves</a:t>
            </a:r>
            <a:endParaRPr lang="en-US" sz="1250" dirty="0"/>
          </a:p>
        </p:txBody>
      </p:sp>
      <p:sp>
        <p:nvSpPr>
          <p:cNvPr id="16" name="Text 13"/>
          <p:cNvSpPr/>
          <p:nvPr/>
        </p:nvSpPr>
        <p:spPr>
          <a:xfrm>
            <a:off x="877824" y="4114800"/>
            <a:ext cx="7644384" cy="475488"/>
          </a:xfrm>
          <a:prstGeom prst="rect">
            <a:avLst/>
          </a:prstGeom>
          <a:noFill/>
          <a:ln/>
        </p:spPr>
        <p:txBody>
          <a:bodyPr wrap="square" lIns="0" tIns="0" rIns="0" bIns="0" rtlCol="0" anchor="ctr"/>
          <a:lstStyle/>
          <a:p>
            <a:pPr indent="0" marL="0">
              <a:buNone/>
            </a:pPr>
            <a:r>
              <a:rPr lang="en-US" sz="1050" dirty="0">
                <a:solidFill>
                  <a:srgbClr val="2E3B38"/>
                </a:solidFill>
                <a:latin typeface="Georgia" pitchFamily="34" charset="0"/>
                <a:ea typeface="Georgia" pitchFamily="34" charset="-122"/>
                <a:cs typeface="Georgia" pitchFamily="34" charset="-120"/>
              </a:rPr>
              <a:t>Our own repair company completes the rehab; we then sell it or move it into our property management company. A default doesn't strand the project — it just changes who finishes it.</a:t>
            </a:r>
            <a:endParaRPr lang="en-US" sz="1050" dirty="0"/>
          </a:p>
        </p:txBody>
      </p:sp>
      <p:sp>
        <p:nvSpPr>
          <p:cNvPr id="17" name="Text 14"/>
          <p:cNvSpPr/>
          <p:nvPr/>
        </p:nvSpPr>
        <p:spPr>
          <a:xfrm>
            <a:off x="566928" y="4759452"/>
            <a:ext cx="8010144" cy="201168"/>
          </a:xfrm>
          <a:prstGeom prst="rect">
            <a:avLst/>
          </a:prstGeom>
          <a:noFill/>
          <a:ln/>
        </p:spPr>
        <p:txBody>
          <a:bodyPr wrap="square" lIns="0" tIns="0" rIns="0" bIns="0" rtlCol="0" anchor="ctr"/>
          <a:lstStyle/>
          <a:p>
            <a:pPr indent="0" marL="0">
              <a:buNone/>
            </a:pPr>
            <a:r>
              <a:rPr lang="en-US" sz="750" i="1" dirty="0">
                <a:solidFill>
                  <a:srgbClr val="6B7A75"/>
                </a:solidFill>
                <a:latin typeface="Georgia" pitchFamily="34" charset="0"/>
                <a:ea typeface="Georgia" pitchFamily="34" charset="-122"/>
                <a:cs typeface="Georgia" pitchFamily="34" charset="-120"/>
              </a:rPr>
              <a:t>Illustrative example based on representative terms. Secured, not guaranteed. Not an offer to sell securities.</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8010144" cy="219456"/>
          </a:xfrm>
          <a:prstGeom prst="rect">
            <a:avLst/>
          </a:prstGeom>
          <a:noFill/>
          <a:ln/>
        </p:spPr>
        <p:txBody>
          <a:bodyPr wrap="square" lIns="0" tIns="0" rIns="0" bIns="0" rtlCol="0" anchor="ctr"/>
          <a:lstStyle/>
          <a:p>
            <a:pPr indent="0" marL="0">
              <a:buNone/>
            </a:pPr>
            <a:r>
              <a:rPr lang="en-US" sz="900" b="1" spc="200" kern="0" dirty="0">
                <a:solidFill>
                  <a:srgbClr val="C89430"/>
                </a:solidFill>
                <a:latin typeface="Arial" pitchFamily="34" charset="0"/>
                <a:ea typeface="Arial" pitchFamily="34" charset="-122"/>
                <a:cs typeface="Arial" pitchFamily="34" charset="-120"/>
              </a:rPr>
              <a:t>OPERATORS, NOT SPREADSHEETS</a:t>
            </a:r>
            <a:endParaRPr lang="en-US" sz="900" dirty="0"/>
          </a:p>
        </p:txBody>
      </p:sp>
      <p:sp>
        <p:nvSpPr>
          <p:cNvPr id="3" name="Text 1"/>
          <p:cNvSpPr/>
          <p:nvPr/>
        </p:nvSpPr>
        <p:spPr>
          <a:xfrm>
            <a:off x="566928" y="603504"/>
            <a:ext cx="8010144" cy="566928"/>
          </a:xfrm>
          <a:prstGeom prst="rect">
            <a:avLst/>
          </a:prstGeom>
          <a:noFill/>
          <a:ln/>
        </p:spPr>
        <p:txBody>
          <a:bodyPr wrap="square" lIns="0" tIns="0" rIns="0" bIns="0" rtlCol="0" anchor="ctr"/>
          <a:lstStyle/>
          <a:p>
            <a:pPr indent="0" marL="0">
              <a:buNone/>
            </a:pPr>
            <a:r>
              <a:rPr lang="en-US" sz="3300" b="1" dirty="0">
                <a:solidFill>
                  <a:srgbClr val="1E3C36"/>
                </a:solidFill>
                <a:latin typeface="Georgia" pitchFamily="34" charset="0"/>
                <a:ea typeface="Georgia" pitchFamily="34" charset="-122"/>
                <a:cs typeface="Georgia" pitchFamily="34" charset="-120"/>
              </a:rPr>
              <a:t>Who We Are</a:t>
            </a:r>
            <a:endParaRPr lang="en-US" sz="3300" dirty="0"/>
          </a:p>
        </p:txBody>
      </p:sp>
      <p:pic>
        <p:nvPicPr>
          <p:cNvPr id="4" name="Image 0" descr="preencoded.png">    </p:cNvPr>
          <p:cNvPicPr>
            <a:picLocks noChangeAspect="1"/>
          </p:cNvPicPr>
          <p:nvPr/>
        </p:nvPicPr>
        <p:blipFill>
          <a:blip r:embed="rId1"/>
          <a:stretch>
            <a:fillRect/>
          </a:stretch>
        </p:blipFill>
        <p:spPr>
          <a:xfrm>
            <a:off x="8266176" y="329184"/>
            <a:ext cx="274320" cy="310896"/>
          </a:xfrm>
          <a:prstGeom prst="rect">
            <a:avLst/>
          </a:prstGeom>
        </p:spPr>
      </p:pic>
      <p:sp>
        <p:nvSpPr>
          <p:cNvPr id="5" name="Shape 2"/>
          <p:cNvSpPr/>
          <p:nvPr/>
        </p:nvSpPr>
        <p:spPr>
          <a:xfrm>
            <a:off x="566928" y="1481328"/>
            <a:ext cx="3895344" cy="2121408"/>
          </a:xfrm>
          <a:prstGeom prst="roundRect">
            <a:avLst>
              <a:gd name="adj" fmla="val 3448"/>
            </a:avLst>
          </a:prstGeom>
          <a:solidFill>
            <a:srgbClr val="F5F7F6"/>
          </a:solidFill>
          <a:ln w="12700">
            <a:solidFill>
              <a:srgbClr val="F5F7F6"/>
            </a:solidFill>
            <a:prstDash val="solid"/>
          </a:ln>
        </p:spPr>
      </p:sp>
      <p:sp>
        <p:nvSpPr>
          <p:cNvPr id="6" name="Text 3"/>
          <p:cNvSpPr/>
          <p:nvPr/>
        </p:nvSpPr>
        <p:spPr>
          <a:xfrm>
            <a:off x="804672" y="1627632"/>
            <a:ext cx="3419856" cy="310896"/>
          </a:xfrm>
          <a:prstGeom prst="rect">
            <a:avLst/>
          </a:prstGeom>
          <a:noFill/>
          <a:ln/>
        </p:spPr>
        <p:txBody>
          <a:bodyPr wrap="square" lIns="0" tIns="0" rIns="0" bIns="0" rtlCol="0" anchor="ctr"/>
          <a:lstStyle/>
          <a:p>
            <a:pPr indent="0" marL="0">
              <a:buNone/>
            </a:pPr>
            <a:r>
              <a:rPr lang="en-US" sz="1700" b="1" dirty="0">
                <a:solidFill>
                  <a:srgbClr val="1E3C36"/>
                </a:solidFill>
                <a:latin typeface="Georgia" pitchFamily="34" charset="0"/>
                <a:ea typeface="Georgia" pitchFamily="34" charset="-122"/>
                <a:cs typeface="Georgia" pitchFamily="34" charset="-120"/>
              </a:rPr>
              <a:t>Lewis McKnight</a:t>
            </a:r>
            <a:endParaRPr lang="en-US" sz="1700" dirty="0"/>
          </a:p>
        </p:txBody>
      </p:sp>
      <p:sp>
        <p:nvSpPr>
          <p:cNvPr id="7" name="Text 4"/>
          <p:cNvSpPr/>
          <p:nvPr/>
        </p:nvSpPr>
        <p:spPr>
          <a:xfrm>
            <a:off x="804672" y="1938528"/>
            <a:ext cx="3419856" cy="219456"/>
          </a:xfrm>
          <a:prstGeom prst="rect">
            <a:avLst/>
          </a:prstGeom>
          <a:noFill/>
          <a:ln/>
        </p:spPr>
        <p:txBody>
          <a:bodyPr wrap="square" lIns="0" tIns="0" rIns="0" bIns="0" rtlCol="0" anchor="ctr"/>
          <a:lstStyle/>
          <a:p>
            <a:pPr indent="0" marL="0">
              <a:buNone/>
            </a:pPr>
            <a:r>
              <a:rPr lang="en-US" sz="950" b="1" dirty="0">
                <a:solidFill>
                  <a:srgbClr val="C89430"/>
                </a:solidFill>
                <a:latin typeface="Arial" pitchFamily="34" charset="0"/>
                <a:ea typeface="Arial" pitchFamily="34" charset="-122"/>
                <a:cs typeface="Arial" pitchFamily="34" charset="-120"/>
              </a:rPr>
              <a:t>23 years in real estate</a:t>
            </a:r>
            <a:endParaRPr lang="en-US" sz="950" dirty="0"/>
          </a:p>
        </p:txBody>
      </p:sp>
      <p:sp>
        <p:nvSpPr>
          <p:cNvPr id="8" name="Text 5"/>
          <p:cNvSpPr/>
          <p:nvPr/>
        </p:nvSpPr>
        <p:spPr>
          <a:xfrm>
            <a:off x="804672" y="2231136"/>
            <a:ext cx="3419856" cy="1225296"/>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2E3B38"/>
                </a:solidFill>
                <a:latin typeface="Georgia" pitchFamily="34" charset="0"/>
                <a:ea typeface="Georgia" pitchFamily="34" charset="-122"/>
                <a:cs typeface="Georgia" pitchFamily="34" charset="-120"/>
              </a:rPr>
              <a:t>800+ transactions — private loans, flips, single-family construction, rehabs, and remodels.</a:t>
            </a:r>
            <a:endParaRPr lang="en-US" sz="1000" dirty="0"/>
          </a:p>
          <a:p>
            <a:pPr marL="342900" indent="-342900">
              <a:spcAft>
                <a:spcPts val="800"/>
              </a:spcAft>
              <a:buSzPct val="100000"/>
              <a:buChar char="•"/>
            </a:pPr>
            <a:r>
              <a:rPr lang="en-US" sz="1000" dirty="0">
                <a:solidFill>
                  <a:srgbClr val="2E3B38"/>
                </a:solidFill>
                <a:latin typeface="Georgia" pitchFamily="34" charset="0"/>
                <a:ea typeface="Georgia" pitchFamily="34" charset="-122"/>
                <a:cs typeface="Georgia" pitchFamily="34" charset="-120"/>
              </a:rPr>
              <a:t>Owns a repair company and a property management company — in-house crews to finish any stalled project.</a:t>
            </a:r>
            <a:endParaRPr lang="en-US" sz="1000" dirty="0"/>
          </a:p>
        </p:txBody>
      </p:sp>
      <p:sp>
        <p:nvSpPr>
          <p:cNvPr id="9" name="Shape 6"/>
          <p:cNvSpPr/>
          <p:nvPr/>
        </p:nvSpPr>
        <p:spPr>
          <a:xfrm>
            <a:off x="4681728" y="1481328"/>
            <a:ext cx="3895344" cy="2121408"/>
          </a:xfrm>
          <a:prstGeom prst="roundRect">
            <a:avLst>
              <a:gd name="adj" fmla="val 3448"/>
            </a:avLst>
          </a:prstGeom>
          <a:solidFill>
            <a:srgbClr val="F5F7F6"/>
          </a:solidFill>
          <a:ln w="12700">
            <a:solidFill>
              <a:srgbClr val="F5F7F6"/>
            </a:solidFill>
            <a:prstDash val="solid"/>
          </a:ln>
        </p:spPr>
      </p:sp>
      <p:sp>
        <p:nvSpPr>
          <p:cNvPr id="10" name="Text 7"/>
          <p:cNvSpPr/>
          <p:nvPr/>
        </p:nvSpPr>
        <p:spPr>
          <a:xfrm>
            <a:off x="4919472" y="1627632"/>
            <a:ext cx="3419856" cy="310896"/>
          </a:xfrm>
          <a:prstGeom prst="rect">
            <a:avLst/>
          </a:prstGeom>
          <a:noFill/>
          <a:ln/>
        </p:spPr>
        <p:txBody>
          <a:bodyPr wrap="square" lIns="0" tIns="0" rIns="0" bIns="0" rtlCol="0" anchor="ctr"/>
          <a:lstStyle/>
          <a:p>
            <a:pPr indent="0" marL="0">
              <a:buNone/>
            </a:pPr>
            <a:r>
              <a:rPr lang="en-US" sz="1700" b="1" dirty="0">
                <a:solidFill>
                  <a:srgbClr val="1E3C36"/>
                </a:solidFill>
                <a:latin typeface="Georgia" pitchFamily="34" charset="0"/>
                <a:ea typeface="Georgia" pitchFamily="34" charset="-122"/>
                <a:cs typeface="Georgia" pitchFamily="34" charset="-120"/>
              </a:rPr>
              <a:t>Stephen Maner</a:t>
            </a:r>
            <a:endParaRPr lang="en-US" sz="1700" dirty="0"/>
          </a:p>
        </p:txBody>
      </p:sp>
      <p:sp>
        <p:nvSpPr>
          <p:cNvPr id="11" name="Text 8"/>
          <p:cNvSpPr/>
          <p:nvPr/>
        </p:nvSpPr>
        <p:spPr>
          <a:xfrm>
            <a:off x="4919472" y="1938528"/>
            <a:ext cx="3419856" cy="219456"/>
          </a:xfrm>
          <a:prstGeom prst="rect">
            <a:avLst/>
          </a:prstGeom>
          <a:noFill/>
          <a:ln/>
        </p:spPr>
        <p:txBody>
          <a:bodyPr wrap="square" lIns="0" tIns="0" rIns="0" bIns="0" rtlCol="0" anchor="ctr"/>
          <a:lstStyle/>
          <a:p>
            <a:pPr indent="0" marL="0">
              <a:buNone/>
            </a:pPr>
            <a:r>
              <a:rPr lang="en-US" sz="950" b="1" dirty="0">
                <a:solidFill>
                  <a:srgbClr val="C89430"/>
                </a:solidFill>
                <a:latin typeface="Arial" pitchFamily="34" charset="0"/>
                <a:ea typeface="Arial" pitchFamily="34" charset="-122"/>
                <a:cs typeface="Arial" pitchFamily="34" charset="-120"/>
              </a:rPr>
              <a:t>13+ years as a real estate investor</a:t>
            </a:r>
            <a:endParaRPr lang="en-US" sz="950" dirty="0"/>
          </a:p>
        </p:txBody>
      </p:sp>
      <p:sp>
        <p:nvSpPr>
          <p:cNvPr id="12" name="Text 9"/>
          <p:cNvSpPr/>
          <p:nvPr/>
        </p:nvSpPr>
        <p:spPr>
          <a:xfrm>
            <a:off x="4919472" y="2231136"/>
            <a:ext cx="3419856" cy="1225296"/>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2E3B38"/>
                </a:solidFill>
                <a:latin typeface="Georgia" pitchFamily="34" charset="0"/>
                <a:ea typeface="Georgia" pitchFamily="34" charset="-122"/>
                <a:cs typeface="Georgia" pitchFamily="34" charset="-120"/>
              </a:rPr>
              <a:t>U.S. Marine Corps veteran; corporate professional turned entrepreneur.</a:t>
            </a:r>
            <a:endParaRPr lang="en-US" sz="1000" dirty="0"/>
          </a:p>
          <a:p>
            <a:pPr marL="342900" indent="-342900">
              <a:spcAft>
                <a:spcPts val="800"/>
              </a:spcAft>
              <a:buSzPct val="100000"/>
              <a:buChar char="•"/>
            </a:pPr>
            <a:r>
              <a:rPr lang="en-US" sz="1000" dirty="0">
                <a:solidFill>
                  <a:srgbClr val="2E3B38"/>
                </a:solidFill>
                <a:latin typeface="Georgia" pitchFamily="34" charset="0"/>
                <a:ea typeface="Georgia" pitchFamily="34" charset="-122"/>
                <a:cs typeface="Georgia" pitchFamily="34" charset="-120"/>
              </a:rPr>
              <a:t>Owns investment property and co-owns the repair and property management companies with Lewis.</a:t>
            </a:r>
            <a:endParaRPr lang="en-US" sz="1000" dirty="0"/>
          </a:p>
        </p:txBody>
      </p:sp>
      <p:sp>
        <p:nvSpPr>
          <p:cNvPr id="13" name="Shape 10"/>
          <p:cNvSpPr/>
          <p:nvPr/>
        </p:nvSpPr>
        <p:spPr>
          <a:xfrm>
            <a:off x="566928" y="3877056"/>
            <a:ext cx="8010144" cy="694944"/>
          </a:xfrm>
          <a:prstGeom prst="roundRect">
            <a:avLst>
              <a:gd name="adj" fmla="val 7895"/>
            </a:avLst>
          </a:prstGeom>
          <a:solidFill>
            <a:srgbClr val="1E3C36"/>
          </a:solidFill>
          <a:ln w="12700">
            <a:solidFill>
              <a:srgbClr val="1E3C36"/>
            </a:solidFill>
            <a:prstDash val="solid"/>
          </a:ln>
        </p:spPr>
      </p:sp>
      <p:sp>
        <p:nvSpPr>
          <p:cNvPr id="14" name="Text 11"/>
          <p:cNvSpPr/>
          <p:nvPr/>
        </p:nvSpPr>
        <p:spPr>
          <a:xfrm>
            <a:off x="768096" y="3877056"/>
            <a:ext cx="7607808" cy="694944"/>
          </a:xfrm>
          <a:prstGeom prst="rect">
            <a:avLst/>
          </a:prstGeom>
          <a:noFill/>
          <a:ln/>
        </p:spPr>
        <p:txBody>
          <a:bodyPr wrap="square" lIns="0" tIns="0" rIns="0" bIns="0" rtlCol="0" anchor="ctr"/>
          <a:lstStyle/>
          <a:p>
            <a:pPr indent="0" marL="0">
              <a:buNone/>
            </a:pPr>
            <a:r>
              <a:rPr lang="en-US" sz="1100" b="1" dirty="0">
                <a:solidFill>
                  <a:srgbClr val="F0EADE"/>
                </a:solidFill>
                <a:latin typeface="Georgia" pitchFamily="34" charset="0"/>
                <a:ea typeface="Georgia" pitchFamily="34" charset="-122"/>
                <a:cs typeface="Georgia" pitchFamily="34" charset="-120"/>
              </a:rPr>
              <a:t>We put our own money into every deal — in the position behind yours.</a:t>
            </a:r>
            <a:endParaRPr lang="en-US" sz="1100" dirty="0"/>
          </a:p>
          <a:p>
            <a:pPr indent="0" marL="0">
              <a:buNone/>
            </a:pPr>
            <a:r>
              <a:rPr lang="en-US" sz="1000" i="1" dirty="0">
                <a:solidFill>
                  <a:srgbClr val="C89430"/>
                </a:solidFill>
                <a:latin typeface="Georgia" pitchFamily="34" charset="0"/>
                <a:ea typeface="Georgia" pitchFamily="34" charset="-122"/>
                <a:cs typeface="Georgia" pitchFamily="34" charset="-120"/>
              </a:rPr>
              <a:t>To date, Lazy Dog has never had a borrower default (past performance does not guarantee future results).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3C3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365760"/>
            <a:ext cx="1920240" cy="795528"/>
          </a:xfrm>
          <a:prstGeom prst="rect">
            <a:avLst/>
          </a:prstGeom>
        </p:spPr>
      </p:pic>
      <p:sp>
        <p:nvSpPr>
          <p:cNvPr id="3" name="Text 0"/>
          <p:cNvSpPr/>
          <p:nvPr/>
        </p:nvSpPr>
        <p:spPr>
          <a:xfrm>
            <a:off x="566928" y="1298448"/>
            <a:ext cx="8010144" cy="566928"/>
          </a:xfrm>
          <a:prstGeom prst="rect">
            <a:avLst/>
          </a:prstGeom>
          <a:noFill/>
          <a:ln/>
        </p:spPr>
        <p:txBody>
          <a:bodyPr wrap="square" lIns="0" tIns="0" rIns="0" bIns="0" rtlCol="0" anchor="ctr"/>
          <a:lstStyle/>
          <a:p>
            <a:pPr indent="0" marL="0">
              <a:buNone/>
            </a:pPr>
            <a:r>
              <a:rPr lang="en-US" sz="3300" b="1" dirty="0">
                <a:solidFill>
                  <a:srgbClr val="F0EADE"/>
                </a:solidFill>
                <a:latin typeface="Georgia" pitchFamily="34" charset="0"/>
                <a:ea typeface="Georgia" pitchFamily="34" charset="-122"/>
                <a:cs typeface="Georgia" pitchFamily="34" charset="-120"/>
              </a:rPr>
              <a:t>Next Steps</a:t>
            </a:r>
            <a:endParaRPr lang="en-US" sz="3300" dirty="0"/>
          </a:p>
        </p:txBody>
      </p:sp>
      <p:sp>
        <p:nvSpPr>
          <p:cNvPr id="4" name="Shape 1"/>
          <p:cNvSpPr/>
          <p:nvPr/>
        </p:nvSpPr>
        <p:spPr>
          <a:xfrm>
            <a:off x="566928" y="1975104"/>
            <a:ext cx="310896" cy="310896"/>
          </a:xfrm>
          <a:prstGeom prst="ellipse">
            <a:avLst/>
          </a:prstGeom>
          <a:solidFill>
            <a:srgbClr val="1E3C36"/>
          </a:solidFill>
          <a:ln w="12700">
            <a:solidFill>
              <a:srgbClr val="C89430"/>
            </a:solidFill>
            <a:prstDash val="solid"/>
          </a:ln>
        </p:spPr>
      </p:sp>
      <p:sp>
        <p:nvSpPr>
          <p:cNvPr id="5" name="Text 2"/>
          <p:cNvSpPr/>
          <p:nvPr/>
        </p:nvSpPr>
        <p:spPr>
          <a:xfrm>
            <a:off x="566928" y="1975104"/>
            <a:ext cx="310896" cy="310896"/>
          </a:xfrm>
          <a:prstGeom prst="rect">
            <a:avLst/>
          </a:prstGeom>
          <a:noFill/>
          <a:ln/>
        </p:spPr>
        <p:txBody>
          <a:bodyPr wrap="square" lIns="0" tIns="0" rIns="0" bIns="0" rtlCol="0" anchor="ctr"/>
          <a:lstStyle/>
          <a:p>
            <a:pPr algn="ctr" indent="0" marL="0">
              <a:buNone/>
            </a:pPr>
            <a:r>
              <a:rPr lang="en-US" sz="1100" b="1" dirty="0">
                <a:solidFill>
                  <a:srgbClr val="C89430"/>
                </a:solidFill>
                <a:latin typeface="Arial" pitchFamily="34" charset="0"/>
                <a:ea typeface="Arial" pitchFamily="34" charset="-122"/>
                <a:cs typeface="Arial" pitchFamily="34" charset="-120"/>
              </a:rPr>
              <a:t>1</a:t>
            </a:r>
            <a:endParaRPr lang="en-US" sz="1100" dirty="0"/>
          </a:p>
        </p:txBody>
      </p:sp>
      <p:sp>
        <p:nvSpPr>
          <p:cNvPr id="6" name="Text 3"/>
          <p:cNvSpPr/>
          <p:nvPr/>
        </p:nvSpPr>
        <p:spPr>
          <a:xfrm>
            <a:off x="1042416" y="1975104"/>
            <a:ext cx="7443216" cy="310896"/>
          </a:xfrm>
          <a:prstGeom prst="rect">
            <a:avLst/>
          </a:prstGeom>
          <a:noFill/>
          <a:ln/>
        </p:spPr>
        <p:txBody>
          <a:bodyPr wrap="square" lIns="0" tIns="0" rIns="0" bIns="0" rtlCol="0" anchor="ctr"/>
          <a:lstStyle/>
          <a:p>
            <a:pPr indent="0" marL="0">
              <a:buNone/>
            </a:pPr>
            <a:r>
              <a:rPr lang="en-US" sz="1250" dirty="0">
                <a:solidFill>
                  <a:srgbClr val="F0EADE"/>
                </a:solidFill>
                <a:latin typeface="Georgia" pitchFamily="34" charset="0"/>
                <a:ea typeface="Georgia" pitchFamily="34" charset="-122"/>
                <a:cs typeface="Georgia" pitchFamily="34" charset="-120"/>
              </a:rPr>
              <a:t>Review the Capital Partner Agreement and sample loan documents.</a:t>
            </a:r>
            <a:endParaRPr lang="en-US" sz="1250" dirty="0"/>
          </a:p>
        </p:txBody>
      </p:sp>
      <p:sp>
        <p:nvSpPr>
          <p:cNvPr id="7" name="Shape 4"/>
          <p:cNvSpPr/>
          <p:nvPr/>
        </p:nvSpPr>
        <p:spPr>
          <a:xfrm>
            <a:off x="566928" y="2432304"/>
            <a:ext cx="310896" cy="310896"/>
          </a:xfrm>
          <a:prstGeom prst="ellipse">
            <a:avLst/>
          </a:prstGeom>
          <a:solidFill>
            <a:srgbClr val="1E3C36"/>
          </a:solidFill>
          <a:ln w="12700">
            <a:solidFill>
              <a:srgbClr val="C89430"/>
            </a:solidFill>
            <a:prstDash val="solid"/>
          </a:ln>
        </p:spPr>
      </p:sp>
      <p:sp>
        <p:nvSpPr>
          <p:cNvPr id="8" name="Text 5"/>
          <p:cNvSpPr/>
          <p:nvPr/>
        </p:nvSpPr>
        <p:spPr>
          <a:xfrm>
            <a:off x="566928" y="2432304"/>
            <a:ext cx="310896" cy="310896"/>
          </a:xfrm>
          <a:prstGeom prst="rect">
            <a:avLst/>
          </a:prstGeom>
          <a:noFill/>
          <a:ln/>
        </p:spPr>
        <p:txBody>
          <a:bodyPr wrap="square" lIns="0" tIns="0" rIns="0" bIns="0" rtlCol="0" anchor="ctr"/>
          <a:lstStyle/>
          <a:p>
            <a:pPr algn="ctr" indent="0" marL="0">
              <a:buNone/>
            </a:pPr>
            <a:r>
              <a:rPr lang="en-US" sz="1100" b="1" dirty="0">
                <a:solidFill>
                  <a:srgbClr val="C89430"/>
                </a:solidFill>
                <a:latin typeface="Arial" pitchFamily="34" charset="0"/>
                <a:ea typeface="Arial" pitchFamily="34" charset="-122"/>
                <a:cs typeface="Arial" pitchFamily="34" charset="-120"/>
              </a:rPr>
              <a:t>2</a:t>
            </a:r>
            <a:endParaRPr lang="en-US" sz="1100" dirty="0"/>
          </a:p>
        </p:txBody>
      </p:sp>
      <p:sp>
        <p:nvSpPr>
          <p:cNvPr id="9" name="Text 6"/>
          <p:cNvSpPr/>
          <p:nvPr/>
        </p:nvSpPr>
        <p:spPr>
          <a:xfrm>
            <a:off x="1042416" y="2432304"/>
            <a:ext cx="7443216" cy="310896"/>
          </a:xfrm>
          <a:prstGeom prst="rect">
            <a:avLst/>
          </a:prstGeom>
          <a:noFill/>
          <a:ln/>
        </p:spPr>
        <p:txBody>
          <a:bodyPr wrap="square" lIns="0" tIns="0" rIns="0" bIns="0" rtlCol="0" anchor="ctr"/>
          <a:lstStyle/>
          <a:p>
            <a:pPr indent="0" marL="0">
              <a:buNone/>
            </a:pPr>
            <a:r>
              <a:rPr lang="en-US" sz="1250" dirty="0">
                <a:solidFill>
                  <a:srgbClr val="F0EADE"/>
                </a:solidFill>
                <a:latin typeface="Georgia" pitchFamily="34" charset="0"/>
                <a:ea typeface="Georgia" pitchFamily="34" charset="-122"/>
                <a:cs typeface="Georgia" pitchFamily="34" charset="-120"/>
              </a:rPr>
              <a:t>Choose your share of the loan — your rate follows the tier.</a:t>
            </a:r>
            <a:endParaRPr lang="en-US" sz="1250" dirty="0"/>
          </a:p>
        </p:txBody>
      </p:sp>
      <p:sp>
        <p:nvSpPr>
          <p:cNvPr id="10" name="Shape 7"/>
          <p:cNvSpPr/>
          <p:nvPr/>
        </p:nvSpPr>
        <p:spPr>
          <a:xfrm>
            <a:off x="566928" y="2889504"/>
            <a:ext cx="310896" cy="310896"/>
          </a:xfrm>
          <a:prstGeom prst="ellipse">
            <a:avLst/>
          </a:prstGeom>
          <a:solidFill>
            <a:srgbClr val="1E3C36"/>
          </a:solidFill>
          <a:ln w="12700">
            <a:solidFill>
              <a:srgbClr val="C89430"/>
            </a:solidFill>
            <a:prstDash val="solid"/>
          </a:ln>
        </p:spPr>
      </p:sp>
      <p:sp>
        <p:nvSpPr>
          <p:cNvPr id="11" name="Text 8"/>
          <p:cNvSpPr/>
          <p:nvPr/>
        </p:nvSpPr>
        <p:spPr>
          <a:xfrm>
            <a:off x="566928" y="2889504"/>
            <a:ext cx="310896" cy="310896"/>
          </a:xfrm>
          <a:prstGeom prst="rect">
            <a:avLst/>
          </a:prstGeom>
          <a:noFill/>
          <a:ln/>
        </p:spPr>
        <p:txBody>
          <a:bodyPr wrap="square" lIns="0" tIns="0" rIns="0" bIns="0" rtlCol="0" anchor="ctr"/>
          <a:lstStyle/>
          <a:p>
            <a:pPr algn="ctr" indent="0" marL="0">
              <a:buNone/>
            </a:pPr>
            <a:r>
              <a:rPr lang="en-US" sz="1100" b="1" dirty="0">
                <a:solidFill>
                  <a:srgbClr val="C89430"/>
                </a:solidFill>
                <a:latin typeface="Arial" pitchFamily="34" charset="0"/>
                <a:ea typeface="Arial" pitchFamily="34" charset="-122"/>
                <a:cs typeface="Arial" pitchFamily="34" charset="-120"/>
              </a:rPr>
              <a:t>3</a:t>
            </a:r>
            <a:endParaRPr lang="en-US" sz="1100" dirty="0"/>
          </a:p>
        </p:txBody>
      </p:sp>
      <p:sp>
        <p:nvSpPr>
          <p:cNvPr id="12" name="Text 9"/>
          <p:cNvSpPr/>
          <p:nvPr/>
        </p:nvSpPr>
        <p:spPr>
          <a:xfrm>
            <a:off x="1042416" y="2889504"/>
            <a:ext cx="7443216" cy="310896"/>
          </a:xfrm>
          <a:prstGeom prst="rect">
            <a:avLst/>
          </a:prstGeom>
          <a:noFill/>
          <a:ln/>
        </p:spPr>
        <p:txBody>
          <a:bodyPr wrap="square" lIns="0" tIns="0" rIns="0" bIns="0" rtlCol="0" anchor="ctr"/>
          <a:lstStyle/>
          <a:p>
            <a:pPr indent="0" marL="0">
              <a:buNone/>
            </a:pPr>
            <a:r>
              <a:rPr lang="en-US" sz="1250" dirty="0">
                <a:solidFill>
                  <a:srgbClr val="F0EADE"/>
                </a:solidFill>
                <a:latin typeface="Georgia" pitchFamily="34" charset="0"/>
                <a:ea typeface="Georgia" pitchFamily="34" charset="-122"/>
                <a:cs typeface="Georgia" pitchFamily="34" charset="-120"/>
              </a:rPr>
              <a:t>Fund your contribution; your first-priority collateral assignment is recorded.</a:t>
            </a:r>
            <a:endParaRPr lang="en-US" sz="1250" dirty="0"/>
          </a:p>
        </p:txBody>
      </p:sp>
      <p:sp>
        <p:nvSpPr>
          <p:cNvPr id="13" name="Shape 10"/>
          <p:cNvSpPr/>
          <p:nvPr/>
        </p:nvSpPr>
        <p:spPr>
          <a:xfrm>
            <a:off x="566928" y="3346704"/>
            <a:ext cx="310896" cy="310896"/>
          </a:xfrm>
          <a:prstGeom prst="ellipse">
            <a:avLst/>
          </a:prstGeom>
          <a:solidFill>
            <a:srgbClr val="1E3C36"/>
          </a:solidFill>
          <a:ln w="12700">
            <a:solidFill>
              <a:srgbClr val="C89430"/>
            </a:solidFill>
            <a:prstDash val="solid"/>
          </a:ln>
        </p:spPr>
      </p:sp>
      <p:sp>
        <p:nvSpPr>
          <p:cNvPr id="14" name="Text 11"/>
          <p:cNvSpPr/>
          <p:nvPr/>
        </p:nvSpPr>
        <p:spPr>
          <a:xfrm>
            <a:off x="566928" y="3346704"/>
            <a:ext cx="310896" cy="310896"/>
          </a:xfrm>
          <a:prstGeom prst="rect">
            <a:avLst/>
          </a:prstGeom>
          <a:noFill/>
          <a:ln/>
        </p:spPr>
        <p:txBody>
          <a:bodyPr wrap="square" lIns="0" tIns="0" rIns="0" bIns="0" rtlCol="0" anchor="ctr"/>
          <a:lstStyle/>
          <a:p>
            <a:pPr algn="ctr" indent="0" marL="0">
              <a:buNone/>
            </a:pPr>
            <a:r>
              <a:rPr lang="en-US" sz="1100" b="1" dirty="0">
                <a:solidFill>
                  <a:srgbClr val="C89430"/>
                </a:solidFill>
                <a:latin typeface="Arial" pitchFamily="34" charset="0"/>
                <a:ea typeface="Arial" pitchFamily="34" charset="-122"/>
                <a:cs typeface="Arial" pitchFamily="34" charset="-120"/>
              </a:rPr>
              <a:t>4</a:t>
            </a:r>
            <a:endParaRPr lang="en-US" sz="1100" dirty="0"/>
          </a:p>
        </p:txBody>
      </p:sp>
      <p:sp>
        <p:nvSpPr>
          <p:cNvPr id="15" name="Text 12"/>
          <p:cNvSpPr/>
          <p:nvPr/>
        </p:nvSpPr>
        <p:spPr>
          <a:xfrm>
            <a:off x="1042416" y="3346704"/>
            <a:ext cx="7443216" cy="310896"/>
          </a:xfrm>
          <a:prstGeom prst="rect">
            <a:avLst/>
          </a:prstGeom>
          <a:noFill/>
          <a:ln/>
        </p:spPr>
        <p:txBody>
          <a:bodyPr wrap="square" lIns="0" tIns="0" rIns="0" bIns="0" rtlCol="0" anchor="ctr"/>
          <a:lstStyle/>
          <a:p>
            <a:pPr indent="0" marL="0">
              <a:buNone/>
            </a:pPr>
            <a:r>
              <a:rPr lang="en-US" sz="1250" dirty="0">
                <a:solidFill>
                  <a:srgbClr val="F0EADE"/>
                </a:solidFill>
                <a:latin typeface="Georgia" pitchFamily="34" charset="0"/>
                <a:ea typeface="Georgia" pitchFamily="34" charset="-122"/>
                <a:cs typeface="Georgia" pitchFamily="34" charset="-120"/>
              </a:rPr>
              <a:t>Receive monthly payments and statements; principal back at payoff — then do it again.</a:t>
            </a:r>
            <a:endParaRPr lang="en-US" sz="1250" dirty="0"/>
          </a:p>
        </p:txBody>
      </p:sp>
      <p:sp>
        <p:nvSpPr>
          <p:cNvPr id="16" name="Text 13"/>
          <p:cNvSpPr/>
          <p:nvPr/>
        </p:nvSpPr>
        <p:spPr>
          <a:xfrm>
            <a:off x="566928" y="3968496"/>
            <a:ext cx="8010144" cy="182880"/>
          </a:xfrm>
          <a:prstGeom prst="rect">
            <a:avLst/>
          </a:prstGeom>
          <a:noFill/>
          <a:ln/>
        </p:spPr>
        <p:txBody>
          <a:bodyPr wrap="square" lIns="0" tIns="0" rIns="0" bIns="0" rtlCol="0" anchor="ctr"/>
          <a:lstStyle/>
          <a:p>
            <a:pPr indent="0" marL="0">
              <a:buNone/>
            </a:pPr>
            <a:r>
              <a:rPr lang="en-US" sz="750" b="1" spc="160" kern="0" dirty="0">
                <a:solidFill>
                  <a:srgbClr val="C89430"/>
                </a:solidFill>
                <a:latin typeface="Arial" pitchFamily="34" charset="0"/>
                <a:ea typeface="Arial" pitchFamily="34" charset="-122"/>
                <a:cs typeface="Arial" pitchFamily="34" charset="-120"/>
              </a:rPr>
              <a:t>IMPORTANT DISCLOSURES</a:t>
            </a:r>
            <a:endParaRPr lang="en-US" sz="750" dirty="0"/>
          </a:p>
        </p:txBody>
      </p:sp>
      <p:sp>
        <p:nvSpPr>
          <p:cNvPr id="17" name="Text 14"/>
          <p:cNvSpPr/>
          <p:nvPr/>
        </p:nvSpPr>
        <p:spPr>
          <a:xfrm>
            <a:off x="566928" y="4169664"/>
            <a:ext cx="8010144" cy="731520"/>
          </a:xfrm>
          <a:prstGeom prst="rect">
            <a:avLst/>
          </a:prstGeom>
          <a:noFill/>
          <a:ln/>
        </p:spPr>
        <p:txBody>
          <a:bodyPr wrap="square" lIns="0" tIns="0" rIns="0" bIns="0" rtlCol="0" anchor="ctr"/>
          <a:lstStyle/>
          <a:p>
            <a:pPr indent="0" marL="0">
              <a:buNone/>
            </a:pPr>
            <a:r>
              <a:rPr lang="en-US" sz="680" dirty="0">
                <a:solidFill>
                  <a:srgbClr val="A9B8B3"/>
                </a:solidFill>
                <a:latin typeface="Georgia" pitchFamily="34" charset="0"/>
                <a:ea typeface="Georgia" pitchFamily="34" charset="-122"/>
                <a:cs typeface="Georgia" pitchFamily="34" charset="-120"/>
              </a:rPr>
              <a:t>This presentation is an illustrative example based on representative deal terms and is provided for discussion purposes only. It is not an offer to sell or a solicitation of an offer to buy any security. Capital partner returns are secured by a recorded first-priority collateral assignment of a first-lien note and deed of trust on a specific Texas property; they are secured, not guaranteed. Real estate values can decline, borrowers can default, and foreclosure recoveries can be less than anticipated. Past performance does not guarantee future results. Figures are shown before taxes; interest income is generally taxed as ordinary income. Prospective capital partners should review all loan documents and consult their own legal, tax, and financial advisors before investing.</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Capital Partner Pitch</dc:title>
  <dc:subject>PptxGenJS Presentation</dc:subject>
  <dc:creator>Lazy Dog Capital LLC</dc:creator>
  <cp:lastModifiedBy>Lazy Dog Capital LLC</cp:lastModifiedBy>
  <cp:revision>1</cp:revision>
  <dcterms:created xsi:type="dcterms:W3CDTF">2026-08-05T00:09:04Z</dcterms:created>
  <dcterms:modified xsi:type="dcterms:W3CDTF">2026-08-05T00:09:04Z</dcterms:modified>
</cp:coreProperties>
</file>